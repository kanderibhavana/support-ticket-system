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2.svg" ContentType="image/svg+xml"/>
  <Override PartName="/ppt/media/image-3-4.svg" ContentType="image/svg+xml"/>
  <Override PartName="/ppt/media/image-3-6.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9-2.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Quattrocento"/>
      <p:regular r:id="rId201314"/>
    </p:embeddedFont>
    <p:embeddedFont>
      <p:font typeface="Quattrocento Bold"/>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 Id="rId201317" Type="http://schemas.openxmlformats.org/officeDocument/2006/relationships/font" Target="fonts/2013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txBody>
          <a:bodyPr/>
          <a:p/>
        </p:txBody>
      </p:sp>
      <p:sp>
        <p:nvSpPr>
          <p:cNvPr id="3" name="Shape 1"/>
          <p:cNvSpPr/>
          <p:nvPr/>
        </p:nvSpPr>
        <p:spPr>
          <a:xfrm>
            <a:off x="0" y="0"/>
            <a:ext cx="9144000" cy="5143500"/>
          </a:xfrm>
          <a:prstGeom prst="rect">
            <a:avLst/>
          </a:prstGeom>
          <a:solidFill>
            <a:srgbClr val="123332"/>
          </a:solidFill>
          <a:ln/>
        </p:spPr>
        <p:txBody>
          <a:body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952577" y="1848966"/>
            <a:ext cx="1615008" cy="245938"/>
          </a:xfrm>
          <a:prstGeom prst="roundRect">
            <a:avLst>
              <a:gd name="adj" fmla="val 6388"/>
            </a:avLst>
          </a:prstGeom>
          <a:solidFill>
            <a:srgbClr val="441709"/>
          </a:solidFill>
          <a:ln/>
        </p:spPr>
        <p:txBody>
          <a:bodyPr/>
          <a:p/>
        </p:txBody>
      </p:sp>
      <p:sp>
        <p:nvSpPr>
          <p:cNvPr id="4" name="Text 1"/>
          <p:cNvSpPr/>
          <p:nvPr/>
        </p:nvSpPr>
        <p:spPr>
          <a:xfrm>
            <a:off x="4031084" y="1888182"/>
            <a:ext cx="1915195" cy="167506"/>
          </a:xfrm>
          <a:prstGeom prst="rect">
            <a:avLst/>
          </a:prstGeom>
          <a:noFill/>
          <a:ln/>
        </p:spPr>
        <p:txBody>
          <a:bodyPr wrap="none" lIns="0" tIns="0" rIns="0" bIns="0" rtlCol="0" anchor="t"/>
          <a:lstStyle/>
          <a:p>
            <a:pPr algn="l" indent="0" marL="0">
              <a:lnSpc>
                <a:spcPct val="133000"/>
              </a:lnSpc>
              <a:buNone/>
            </a:pPr>
            <a:r>
              <a:rPr lang="en-US" sz="800" dirty="0">
                <a:solidFill>
                  <a:srgbClr val="F9EEE7"/>
                </a:solidFill>
                <a:latin typeface="Quattrocento" pitchFamily="34" charset="0"/>
                <a:ea typeface="Quattrocento" pitchFamily="34" charset="-122"/>
                <a:cs typeface="Quattrocento" pitchFamily="34" charset="-120"/>
              </a:rPr>
              <a:t>B.TECH AI &amp; DS MINI PROJECT</a:t>
            </a:r>
            <a:endParaRPr lang="en-US" sz="800" dirty="0"/>
          </a:p>
        </p:txBody>
      </p:sp>
      <p:sp>
        <p:nvSpPr>
          <p:cNvPr id="5" name="Text 2"/>
          <p:cNvSpPr/>
          <p:nvPr/>
        </p:nvSpPr>
        <p:spPr>
          <a:xfrm>
            <a:off x="3952577" y="2147218"/>
            <a:ext cx="3562052" cy="384944"/>
          </a:xfrm>
          <a:prstGeom prst="rect">
            <a:avLst/>
          </a:prstGeom>
          <a:noFill/>
          <a:ln/>
        </p:spPr>
        <p:txBody>
          <a:bodyPr wrap="none" lIns="0" tIns="0" rIns="0" bIns="0" rtlCol="0" anchor="t"/>
          <a:lstStyle/>
          <a:p>
            <a:pPr algn="l" indent="0" marL="0">
              <a:lnSpc>
                <a:spcPct val="104000"/>
              </a:lnSpc>
              <a:buNone/>
            </a:pPr>
            <a:r>
              <a:rPr lang="en-US" sz="2400" dirty="0">
                <a:solidFill>
                  <a:srgbClr val="FFD9BE"/>
                </a:solidFill>
                <a:latin typeface="Quattrocento" pitchFamily="34" charset="0"/>
                <a:ea typeface="Quattrocento" pitchFamily="34" charset="-122"/>
                <a:cs typeface="Quattrocento" pitchFamily="34" charset="-120"/>
              </a:rPr>
              <a:t>Support Ticket System</a:t>
            </a:r>
            <a:endParaRPr lang="en-US" sz="2400" dirty="0"/>
          </a:p>
        </p:txBody>
      </p:sp>
      <p:sp>
        <p:nvSpPr>
          <p:cNvPr id="6" name="Text 3"/>
          <p:cNvSpPr/>
          <p:nvPr/>
        </p:nvSpPr>
        <p:spPr>
          <a:xfrm>
            <a:off x="3952577" y="2728466"/>
            <a:ext cx="4667845" cy="566068"/>
          </a:xfrm>
          <a:prstGeom prst="rect">
            <a:avLst/>
          </a:prstGeom>
          <a:noFill/>
          <a:ln/>
        </p:spPr>
        <p:txBody>
          <a:bodyPr wrap="square" lIns="0" tIns="0" rIns="0" bIns="0" rtlCol="0" anchor="t"/>
          <a:lstStyle/>
          <a:p>
            <a:pPr algn="l" indent="0" marL="0">
              <a:lnSpc>
                <a:spcPct val="133000"/>
              </a:lnSpc>
              <a:buNone/>
            </a:pPr>
            <a:r>
              <a:rPr lang="en-US" sz="1000" b="1" dirty="0">
                <a:solidFill>
                  <a:srgbClr val="F9EEE7"/>
                </a:solidFill>
                <a:latin typeface="Quattrocento Bold" pitchFamily="34" charset="0"/>
                <a:ea typeface="Quattrocento Bold" pitchFamily="34" charset="-122"/>
                <a:cs typeface="Quattrocento Bold" pitchFamily="34" charset="-120"/>
              </a:rPr>
              <a:t>K. Bhavana</a:t>
            </a:r>
            <a:pPr algn="l" indent="0" marL="0">
              <a:lnSpc>
                <a:spcPct val="133000"/>
              </a:lnSpc>
              <a:spcAft>
                <a:spcPts val="1150"/>
              </a:spcAft>
              <a:buNone/>
            </a:pPr>
            <a:r>
              <a:rPr lang="en-US" sz="1000" dirty="0">
                <a:solidFill>
                  <a:srgbClr val="F9EEE7"/>
                </a:solidFill>
                <a:latin typeface="Quattrocento" pitchFamily="34" charset="0"/>
                <a:ea typeface="Quattrocento" pitchFamily="34" charset="-122"/>
                <a:cs typeface="Quattrocento" pitchFamily="34" charset="-120"/>
              </a:rPr>
              <a:t> · Artificial Intelligence &amp; Data Science Department</a:t>
            </a:r>
            <a:endParaRPr lang="en-US" sz="1000" dirty="0"/>
          </a:p>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Annamacharya Institute of Technology and Sciences (AITS), Tirupati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952577" y="508174"/>
            <a:ext cx="919758" cy="235744"/>
          </a:xfrm>
          <a:prstGeom prst="roundRect">
            <a:avLst>
              <a:gd name="adj" fmla="val 6456"/>
            </a:avLst>
          </a:prstGeom>
          <a:noFill/>
          <a:ln/>
          <a:effectLst>
            <a:outerShdw sx="100000" sy="100000" kx="0" ky="0" algn="bl" rotWithShape="0" blurRad="101600" dist="50800" dir="16200000">
              <a:srgbClr val="ef9c82">
                <a:alpha val="100000"/>
              </a:srgbClr>
            </a:outerShdw>
          </a:effectLst>
        </p:spPr>
        <p:txBody>
          <a:bodyPr/>
          <a:p/>
        </p:txBody>
      </p:sp>
      <p:sp>
        <p:nvSpPr>
          <p:cNvPr id="4" name="Text 1"/>
          <p:cNvSpPr/>
          <p:nvPr/>
        </p:nvSpPr>
        <p:spPr>
          <a:xfrm>
            <a:off x="4028629" y="546199"/>
            <a:ext cx="1224855" cy="159693"/>
          </a:xfrm>
          <a:prstGeom prst="rect">
            <a:avLst/>
          </a:prstGeom>
          <a:noFill/>
          <a:ln/>
        </p:spPr>
        <p:txBody>
          <a:bodyPr wrap="none" lIns="0" tIns="0" rIns="0" bIns="0" rtlCol="0" anchor="t"/>
          <a:lstStyle/>
          <a:p>
            <a:pPr algn="l" indent="0" marL="0">
              <a:lnSpc>
                <a:spcPct val="131000"/>
              </a:lnSpc>
              <a:buNone/>
            </a:pPr>
            <a:r>
              <a:rPr lang="en-US" sz="750" dirty="0">
                <a:solidFill>
                  <a:srgbClr val="EF9C82"/>
                </a:solidFill>
                <a:latin typeface="Quattrocento" pitchFamily="34" charset="0"/>
                <a:ea typeface="Quattrocento" pitchFamily="34" charset="-122"/>
                <a:cs typeface="Quattrocento" pitchFamily="34" charset="-120"/>
              </a:rPr>
              <a:t>INTRODUCTION</a:t>
            </a:r>
            <a:endParaRPr lang="en-US" sz="750" dirty="0"/>
          </a:p>
        </p:txBody>
      </p:sp>
      <p:sp>
        <p:nvSpPr>
          <p:cNvPr id="5" name="Text 2"/>
          <p:cNvSpPr/>
          <p:nvPr/>
        </p:nvSpPr>
        <p:spPr>
          <a:xfrm>
            <a:off x="3952577" y="793031"/>
            <a:ext cx="4929411" cy="372963"/>
          </a:xfrm>
          <a:prstGeom prst="rect">
            <a:avLst/>
          </a:prstGeom>
          <a:noFill/>
          <a:ln/>
        </p:spPr>
        <p:txBody>
          <a:bodyPr wrap="none" lIns="0" tIns="0" rIns="0" bIns="0" rtlCol="0" anchor="t"/>
          <a:lstStyle/>
          <a:p>
            <a:pPr algn="l" indent="0" marL="0">
              <a:lnSpc>
                <a:spcPct val="104000"/>
              </a:lnSpc>
              <a:buNone/>
            </a:pPr>
            <a:r>
              <a:rPr lang="en-US" sz="2300" dirty="0">
                <a:solidFill>
                  <a:srgbClr val="FFD9BE"/>
                </a:solidFill>
                <a:latin typeface="Quattrocento" pitchFamily="34" charset="0"/>
                <a:ea typeface="Quattrocento" pitchFamily="34" charset="-122"/>
                <a:cs typeface="Quattrocento" pitchFamily="34" charset="-120"/>
              </a:rPr>
              <a:t>What Is a Support Ticket System?</a:t>
            </a:r>
            <a:endParaRPr lang="en-US" sz="2300" dirty="0"/>
          </a:p>
        </p:txBody>
      </p:sp>
      <p:sp>
        <p:nvSpPr>
          <p:cNvPr id="6" name="Text 3"/>
          <p:cNvSpPr/>
          <p:nvPr/>
        </p:nvSpPr>
        <p:spPr>
          <a:xfrm>
            <a:off x="3952577" y="1350243"/>
            <a:ext cx="4667845" cy="798612"/>
          </a:xfrm>
          <a:prstGeom prst="rect">
            <a:avLst/>
          </a:prstGeom>
          <a:noFill/>
          <a:ln/>
        </p:spPr>
        <p:txBody>
          <a:bodyPr wrap="square" lIns="0" tIns="0" rIns="0" bIns="0" rtlCol="0" anchor="t">
            <a:normAutofit/>
          </a:bodyPr>
          <a:lstStyle/>
          <a:p>
            <a:pPr algn="l" indent="0" marL="0">
              <a:lnSpc>
                <a:spcPct val="131000"/>
              </a:lnSpc>
              <a:buNone/>
            </a:pPr>
            <a:r>
              <a:rPr lang="en-US" sz="950" dirty="0">
                <a:solidFill>
                  <a:srgbClr val="F9EEE7"/>
                </a:solidFill>
                <a:latin typeface="Quattrocento" pitchFamily="34" charset="0"/>
                <a:ea typeface="Quattrocento" pitchFamily="34" charset="-122"/>
                <a:cs typeface="Quattrocento" pitchFamily="34" charset="-120"/>
              </a:rPr>
              <a:t>A Support Ticket System is a structured digital platform that enables users to report, track, and resolve issues in an organized manner. Instead of relying on informal communication channels like email or phone calls, users submit formal tickets that are logged, prioritized, and managed through a centralized interface.</a:t>
            </a:r>
            <a:endParaRPr lang="en-US" sz="950" dirty="0"/>
          </a:p>
        </p:txBody>
      </p:sp>
      <p:sp>
        <p:nvSpPr>
          <p:cNvPr id="7" name="Shape 4"/>
          <p:cNvSpPr/>
          <p:nvPr/>
        </p:nvSpPr>
        <p:spPr>
          <a:xfrm>
            <a:off x="3952577" y="2287042"/>
            <a:ext cx="2272531" cy="1312366"/>
          </a:xfrm>
          <a:prstGeom prst="roundRect">
            <a:avLst>
              <a:gd name="adj" fmla="val 1450"/>
            </a:avLst>
          </a:prstGeom>
          <a:solidFill>
            <a:srgbClr val="315251"/>
          </a:solidFill>
          <a:ln/>
        </p:spPr>
        <p:txBody>
          <a:bodyPr/>
          <a:p/>
        </p:txBody>
      </p:sp>
      <p:sp>
        <p:nvSpPr>
          <p:cNvPr id="8" name="Text 5"/>
          <p:cNvSpPr/>
          <p:nvPr/>
        </p:nvSpPr>
        <p:spPr>
          <a:xfrm>
            <a:off x="4079379" y="2413843"/>
            <a:ext cx="1492002" cy="186482"/>
          </a:xfrm>
          <a:prstGeom prst="rect">
            <a:avLst/>
          </a:prstGeom>
          <a:noFill/>
          <a:ln/>
        </p:spPr>
        <p:txBody>
          <a:bodyPr wrap="none" lIns="0" tIns="0" rIns="0" bIns="0" rtlCol="0" anchor="t"/>
          <a:lstStyle/>
          <a:p>
            <a:pPr algn="l" indent="0" marL="0">
              <a:lnSpc>
                <a:spcPct val="104000"/>
              </a:lnSpc>
              <a:buNone/>
            </a:pPr>
            <a:r>
              <a:rPr lang="en-US" sz="1150" dirty="0">
                <a:solidFill>
                  <a:srgbClr val="F9EEE7"/>
                </a:solidFill>
                <a:latin typeface="Quattrocento" pitchFamily="34" charset="0"/>
                <a:ea typeface="Quattrocento" pitchFamily="34" charset="-122"/>
                <a:cs typeface="Quattrocento" pitchFamily="34" charset="-120"/>
              </a:rPr>
              <a:t>Issue Reporting</a:t>
            </a:r>
            <a:endParaRPr lang="en-US" sz="1150" dirty="0"/>
          </a:p>
        </p:txBody>
      </p:sp>
      <p:sp>
        <p:nvSpPr>
          <p:cNvPr id="9" name="Text 6"/>
          <p:cNvSpPr/>
          <p:nvPr/>
        </p:nvSpPr>
        <p:spPr>
          <a:xfrm>
            <a:off x="4079379" y="2673995"/>
            <a:ext cx="2018928" cy="798612"/>
          </a:xfrm>
          <a:prstGeom prst="rect">
            <a:avLst/>
          </a:prstGeom>
          <a:noFill/>
          <a:ln/>
        </p:spPr>
        <p:txBody>
          <a:bodyPr wrap="square" lIns="0" tIns="0" rIns="0" bIns="0" rtlCol="0" anchor="t">
            <a:normAutofit/>
          </a:bodyPr>
          <a:lstStyle/>
          <a:p>
            <a:pPr algn="l" indent="0" marL="0">
              <a:lnSpc>
                <a:spcPct val="131000"/>
              </a:lnSpc>
              <a:buNone/>
            </a:pPr>
            <a:r>
              <a:rPr lang="en-US" sz="950" dirty="0">
                <a:solidFill>
                  <a:srgbClr val="F9EEE7"/>
                </a:solidFill>
                <a:latin typeface="Quattrocento" pitchFamily="34" charset="0"/>
                <a:ea typeface="Quattrocento" pitchFamily="34" charset="-122"/>
                <a:cs typeface="Quattrocento" pitchFamily="34" charset="-120"/>
              </a:rPr>
              <a:t>Users submit detailed descriptions of their problems, ensuring nothing is lost or overlooked in the support process.</a:t>
            </a:r>
            <a:endParaRPr lang="en-US" sz="950" dirty="0"/>
          </a:p>
        </p:txBody>
      </p:sp>
      <p:sp>
        <p:nvSpPr>
          <p:cNvPr id="10" name="Shape 7"/>
          <p:cNvSpPr/>
          <p:nvPr/>
        </p:nvSpPr>
        <p:spPr>
          <a:xfrm>
            <a:off x="6347892" y="2287042"/>
            <a:ext cx="2272531" cy="1312366"/>
          </a:xfrm>
          <a:prstGeom prst="roundRect">
            <a:avLst>
              <a:gd name="adj" fmla="val 1450"/>
            </a:avLst>
          </a:prstGeom>
          <a:solidFill>
            <a:srgbClr val="315251"/>
          </a:solidFill>
          <a:ln/>
        </p:spPr>
        <p:txBody>
          <a:bodyPr/>
          <a:p/>
        </p:txBody>
      </p:sp>
      <p:sp>
        <p:nvSpPr>
          <p:cNvPr id="11" name="Text 8"/>
          <p:cNvSpPr/>
          <p:nvPr/>
        </p:nvSpPr>
        <p:spPr>
          <a:xfrm>
            <a:off x="6474693" y="2413843"/>
            <a:ext cx="1492002" cy="186482"/>
          </a:xfrm>
          <a:prstGeom prst="rect">
            <a:avLst/>
          </a:prstGeom>
          <a:noFill/>
          <a:ln/>
        </p:spPr>
        <p:txBody>
          <a:bodyPr wrap="none" lIns="0" tIns="0" rIns="0" bIns="0" rtlCol="0" anchor="t"/>
          <a:lstStyle/>
          <a:p>
            <a:pPr algn="l" indent="0" marL="0">
              <a:lnSpc>
                <a:spcPct val="104000"/>
              </a:lnSpc>
              <a:buNone/>
            </a:pPr>
            <a:r>
              <a:rPr lang="en-US" sz="1150" dirty="0">
                <a:solidFill>
                  <a:srgbClr val="F9EEE7"/>
                </a:solidFill>
                <a:latin typeface="Quattrocento" pitchFamily="34" charset="0"/>
                <a:ea typeface="Quattrocento" pitchFamily="34" charset="-122"/>
                <a:cs typeface="Quattrocento" pitchFamily="34" charset="-120"/>
              </a:rPr>
              <a:t>Centralized Tracking</a:t>
            </a:r>
            <a:endParaRPr lang="en-US" sz="1150" dirty="0"/>
          </a:p>
        </p:txBody>
      </p:sp>
      <p:sp>
        <p:nvSpPr>
          <p:cNvPr id="12" name="Text 9"/>
          <p:cNvSpPr/>
          <p:nvPr/>
        </p:nvSpPr>
        <p:spPr>
          <a:xfrm>
            <a:off x="6474693" y="2673995"/>
            <a:ext cx="2018928" cy="798612"/>
          </a:xfrm>
          <a:prstGeom prst="rect">
            <a:avLst/>
          </a:prstGeom>
          <a:noFill/>
          <a:ln/>
        </p:spPr>
        <p:txBody>
          <a:bodyPr wrap="square" lIns="0" tIns="0" rIns="0" bIns="0" rtlCol="0" anchor="t">
            <a:normAutofit/>
          </a:bodyPr>
          <a:lstStyle/>
          <a:p>
            <a:pPr algn="l" indent="0" marL="0">
              <a:lnSpc>
                <a:spcPct val="131000"/>
              </a:lnSpc>
              <a:buNone/>
            </a:pPr>
            <a:r>
              <a:rPr lang="en-US" sz="950" dirty="0">
                <a:solidFill>
                  <a:srgbClr val="F9EEE7"/>
                </a:solidFill>
                <a:latin typeface="Quattrocento" pitchFamily="34" charset="0"/>
                <a:ea typeface="Quattrocento" pitchFamily="34" charset="-122"/>
                <a:cs typeface="Quattrocento" pitchFamily="34" charset="-120"/>
              </a:rPr>
              <a:t>All tickets are stored in a single system, giving both users and administrators full visibility into open, pending, and resolved issues.</a:t>
            </a:r>
            <a:endParaRPr lang="en-US" sz="950" dirty="0"/>
          </a:p>
        </p:txBody>
      </p:sp>
      <p:sp>
        <p:nvSpPr>
          <p:cNvPr id="13" name="Shape 10"/>
          <p:cNvSpPr/>
          <p:nvPr/>
        </p:nvSpPr>
        <p:spPr>
          <a:xfrm>
            <a:off x="3952577" y="3722191"/>
            <a:ext cx="4667845" cy="913061"/>
          </a:xfrm>
          <a:prstGeom prst="roundRect">
            <a:avLst>
              <a:gd name="adj" fmla="val 2083"/>
            </a:avLst>
          </a:prstGeom>
          <a:solidFill>
            <a:srgbClr val="315251"/>
          </a:solidFill>
          <a:ln/>
        </p:spPr>
        <p:txBody>
          <a:bodyPr/>
          <a:p/>
        </p:txBody>
      </p:sp>
      <p:sp>
        <p:nvSpPr>
          <p:cNvPr id="14" name="Text 11"/>
          <p:cNvSpPr/>
          <p:nvPr/>
        </p:nvSpPr>
        <p:spPr>
          <a:xfrm>
            <a:off x="4079379" y="3848993"/>
            <a:ext cx="1492002" cy="186482"/>
          </a:xfrm>
          <a:prstGeom prst="rect">
            <a:avLst/>
          </a:prstGeom>
          <a:noFill/>
          <a:ln/>
        </p:spPr>
        <p:txBody>
          <a:bodyPr wrap="none" lIns="0" tIns="0" rIns="0" bIns="0" rtlCol="0" anchor="t"/>
          <a:lstStyle/>
          <a:p>
            <a:pPr algn="l" indent="0" marL="0">
              <a:lnSpc>
                <a:spcPct val="104000"/>
              </a:lnSpc>
              <a:buNone/>
            </a:pPr>
            <a:r>
              <a:rPr lang="en-US" sz="1150" dirty="0">
                <a:solidFill>
                  <a:srgbClr val="F9EEE7"/>
                </a:solidFill>
                <a:latin typeface="Quattrocento" pitchFamily="34" charset="0"/>
                <a:ea typeface="Quattrocento" pitchFamily="34" charset="-122"/>
                <a:cs typeface="Quattrocento" pitchFamily="34" charset="-120"/>
              </a:rPr>
              <a:t>Structured Resolution</a:t>
            </a:r>
            <a:endParaRPr lang="en-US" sz="1150" dirty="0"/>
          </a:p>
        </p:txBody>
      </p:sp>
      <p:sp>
        <p:nvSpPr>
          <p:cNvPr id="15" name="Text 12"/>
          <p:cNvSpPr/>
          <p:nvPr/>
        </p:nvSpPr>
        <p:spPr>
          <a:xfrm>
            <a:off x="4079379" y="4109145"/>
            <a:ext cx="4414242" cy="399306"/>
          </a:xfrm>
          <a:prstGeom prst="rect">
            <a:avLst/>
          </a:prstGeom>
          <a:noFill/>
          <a:ln/>
        </p:spPr>
        <p:txBody>
          <a:bodyPr wrap="square" lIns="0" tIns="0" rIns="0" bIns="0" rtlCol="0" anchor="t">
            <a:normAutofit/>
          </a:bodyPr>
          <a:lstStyle/>
          <a:p>
            <a:pPr algn="l" indent="0" marL="0">
              <a:lnSpc>
                <a:spcPct val="131000"/>
              </a:lnSpc>
              <a:buNone/>
            </a:pPr>
            <a:r>
              <a:rPr lang="en-US" sz="950" dirty="0">
                <a:solidFill>
                  <a:srgbClr val="F9EEE7"/>
                </a:solidFill>
                <a:latin typeface="Quattrocento" pitchFamily="34" charset="0"/>
                <a:ea typeface="Quattrocento" pitchFamily="34" charset="-122"/>
                <a:cs typeface="Quattrocento" pitchFamily="34" charset="-120"/>
              </a:rPr>
              <a:t>Tickets follow a defined lifecycle — from creation through review to resolution — ensuring accountability and timely closure.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23577" y="940073"/>
            <a:ext cx="1249561" cy="245938"/>
          </a:xfrm>
          <a:prstGeom prst="roundRect">
            <a:avLst>
              <a:gd name="adj" fmla="val 6388"/>
            </a:avLst>
          </a:prstGeom>
          <a:noFill/>
          <a:ln/>
          <a:effectLst>
            <a:outerShdw sx="100000" sy="100000" kx="0" ky="0" algn="bl" rotWithShape="0" blurRad="101600" dist="50800" dir="16200000">
              <a:srgbClr val="ef9c82">
                <a:alpha val="100000"/>
              </a:srgbClr>
            </a:outerShdw>
          </a:effectLst>
        </p:spPr>
        <p:txBody>
          <a:bodyPr/>
          <a:p/>
        </p:txBody>
      </p:sp>
      <p:sp>
        <p:nvSpPr>
          <p:cNvPr id="3" name="Text 1"/>
          <p:cNvSpPr/>
          <p:nvPr/>
        </p:nvSpPr>
        <p:spPr>
          <a:xfrm>
            <a:off x="602084" y="979289"/>
            <a:ext cx="1549747" cy="167506"/>
          </a:xfrm>
          <a:prstGeom prst="rect">
            <a:avLst/>
          </a:prstGeom>
          <a:noFill/>
          <a:ln/>
        </p:spPr>
        <p:txBody>
          <a:bodyPr wrap="none" lIns="0" tIns="0" rIns="0" bIns="0" rtlCol="0" anchor="t"/>
          <a:lstStyle/>
          <a:p>
            <a:pPr algn="l" indent="0" marL="0">
              <a:lnSpc>
                <a:spcPct val="133000"/>
              </a:lnSpc>
              <a:buNone/>
            </a:pPr>
            <a:r>
              <a:rPr lang="en-US" sz="800" dirty="0">
                <a:solidFill>
                  <a:srgbClr val="EF9C82"/>
                </a:solidFill>
                <a:latin typeface="Quattrocento" pitchFamily="34" charset="0"/>
                <a:ea typeface="Quattrocento" pitchFamily="34" charset="-122"/>
                <a:cs typeface="Quattrocento" pitchFamily="34" charset="-120"/>
              </a:rPr>
              <a:t>PROBLEM STATEMENT</a:t>
            </a:r>
            <a:endParaRPr lang="en-US" sz="800" dirty="0"/>
          </a:p>
        </p:txBody>
      </p:sp>
      <p:sp>
        <p:nvSpPr>
          <p:cNvPr id="4" name="Text 2"/>
          <p:cNvSpPr/>
          <p:nvPr/>
        </p:nvSpPr>
        <p:spPr>
          <a:xfrm>
            <a:off x="523577" y="1238324"/>
            <a:ext cx="5424413" cy="384944"/>
          </a:xfrm>
          <a:prstGeom prst="rect">
            <a:avLst/>
          </a:prstGeom>
          <a:noFill/>
          <a:ln/>
        </p:spPr>
        <p:txBody>
          <a:bodyPr wrap="none" lIns="0" tIns="0" rIns="0" bIns="0" rtlCol="0" anchor="t"/>
          <a:lstStyle/>
          <a:p>
            <a:pPr algn="l" indent="0" marL="0">
              <a:lnSpc>
                <a:spcPct val="104000"/>
              </a:lnSpc>
              <a:buNone/>
            </a:pPr>
            <a:r>
              <a:rPr lang="en-US" sz="2400" dirty="0">
                <a:solidFill>
                  <a:srgbClr val="FFD9BE"/>
                </a:solidFill>
                <a:latin typeface="Quattrocento" pitchFamily="34" charset="0"/>
                <a:ea typeface="Quattrocento" pitchFamily="34" charset="-122"/>
                <a:cs typeface="Quattrocento" pitchFamily="34" charset="-120"/>
              </a:rPr>
              <a:t>The Challenge with Manual Support</a:t>
            </a:r>
            <a:endParaRPr lang="en-US" sz="2400" dirty="0"/>
          </a:p>
        </p:txBody>
      </p:sp>
      <p:sp>
        <p:nvSpPr>
          <p:cNvPr id="5" name="Text 3"/>
          <p:cNvSpPr/>
          <p:nvPr/>
        </p:nvSpPr>
        <p:spPr>
          <a:xfrm>
            <a:off x="523577" y="1819573"/>
            <a:ext cx="8096845" cy="418802"/>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Traditional, manual approaches to handling user support requests are increasingly inadequate in modern, fast-paced environments. Without a structured system, organizations face critical operational gaps that directly impact user satisfaction and team productivity.</a:t>
            </a:r>
            <a:endParaRPr lang="en-US" sz="10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9290" y="2385640"/>
            <a:ext cx="2625923" cy="1817787"/>
          </a:xfrm>
          <a:prstGeom prst="rect">
            <a:avLst/>
          </a:prstGeom>
        </p:spPr>
      </p:pic>
      <p:sp>
        <p:nvSpPr>
          <p:cNvPr id="7" name="Text 4"/>
          <p:cNvSpPr/>
          <p:nvPr/>
        </p:nvSpPr>
        <p:spPr>
          <a:xfrm>
            <a:off x="711622" y="2530822"/>
            <a:ext cx="1943472" cy="192509"/>
          </a:xfrm>
          <a:prstGeom prst="rect">
            <a:avLst/>
          </a:prstGeom>
          <a:noFill/>
          <a:ln/>
        </p:spPr>
        <p:txBody>
          <a:bodyPr wrap="none" lIns="0" tIns="0" rIns="0" bIns="0" rtlCol="0" anchor="t"/>
          <a:lstStyle/>
          <a:p>
            <a:pPr algn="l" indent="0" marL="0">
              <a:lnSpc>
                <a:spcPct val="104000"/>
              </a:lnSpc>
              <a:buNone/>
            </a:pPr>
            <a:r>
              <a:rPr lang="en-US" sz="1200" dirty="0">
                <a:solidFill>
                  <a:srgbClr val="F9EEE7"/>
                </a:solidFill>
                <a:latin typeface="Quattrocento" pitchFamily="34" charset="0"/>
                <a:ea typeface="Quattrocento" pitchFamily="34" charset="-122"/>
                <a:cs typeface="Quattrocento" pitchFamily="34" charset="-120"/>
              </a:rPr>
              <a:t>Inefficient Manual Handling</a:t>
            </a:r>
            <a:endParaRPr lang="en-US" sz="1200" dirty="0"/>
          </a:p>
        </p:txBody>
      </p:sp>
      <p:sp>
        <p:nvSpPr>
          <p:cNvPr id="8" name="Text 5"/>
          <p:cNvSpPr/>
          <p:nvPr/>
        </p:nvSpPr>
        <p:spPr>
          <a:xfrm>
            <a:off x="711622" y="2801838"/>
            <a:ext cx="2278410" cy="1047006"/>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Support requests received via email or verbal communication are prone to being missed, duplicated, or delayed. There is no standardized process for logging or escalating issues.</a:t>
            </a:r>
            <a:endParaRPr lang="en-US" sz="10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1820" y="2385640"/>
            <a:ext cx="2625998" cy="1817787"/>
          </a:xfrm>
          <a:prstGeom prst="rect">
            <a:avLst/>
          </a:prstGeom>
        </p:spPr>
      </p:pic>
      <p:sp>
        <p:nvSpPr>
          <p:cNvPr id="10" name="Text 6"/>
          <p:cNvSpPr/>
          <p:nvPr/>
        </p:nvSpPr>
        <p:spPr>
          <a:xfrm>
            <a:off x="3454152" y="2530822"/>
            <a:ext cx="2077492" cy="192509"/>
          </a:xfrm>
          <a:prstGeom prst="rect">
            <a:avLst/>
          </a:prstGeom>
          <a:noFill/>
          <a:ln/>
        </p:spPr>
        <p:txBody>
          <a:bodyPr wrap="none" lIns="0" tIns="0" rIns="0" bIns="0" rtlCol="0" anchor="t"/>
          <a:lstStyle/>
          <a:p>
            <a:pPr algn="l" indent="0" marL="0">
              <a:lnSpc>
                <a:spcPct val="104000"/>
              </a:lnSpc>
              <a:buNone/>
            </a:pPr>
            <a:r>
              <a:rPr lang="en-US" sz="1200" dirty="0">
                <a:solidFill>
                  <a:srgbClr val="F9EEE7"/>
                </a:solidFill>
                <a:latin typeface="Quattrocento" pitchFamily="34" charset="0"/>
                <a:ea typeface="Quattrocento" pitchFamily="34" charset="-122"/>
                <a:cs typeface="Quattrocento" pitchFamily="34" charset="-120"/>
              </a:rPr>
              <a:t>Difficulty Tracking User Issues</a:t>
            </a:r>
            <a:endParaRPr lang="en-US" sz="1200" dirty="0"/>
          </a:p>
        </p:txBody>
      </p:sp>
      <p:sp>
        <p:nvSpPr>
          <p:cNvPr id="11" name="Text 7"/>
          <p:cNvSpPr/>
          <p:nvPr/>
        </p:nvSpPr>
        <p:spPr>
          <a:xfrm>
            <a:off x="3454152" y="2801838"/>
            <a:ext cx="2278484" cy="1256407"/>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Without a centralized record, it becomes nearly impossible to track the status of individual requests, leading to unresolved tickets and frustrated users who receive no updates.</a:t>
            </a:r>
            <a:endParaRPr lang="en-US" sz="10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94425" y="2385640"/>
            <a:ext cx="2625998" cy="1817787"/>
          </a:xfrm>
          <a:prstGeom prst="rect">
            <a:avLst/>
          </a:prstGeom>
        </p:spPr>
      </p:pic>
      <p:sp>
        <p:nvSpPr>
          <p:cNvPr id="13" name="Text 8"/>
          <p:cNvSpPr/>
          <p:nvPr/>
        </p:nvSpPr>
        <p:spPr>
          <a:xfrm>
            <a:off x="6196757" y="2530822"/>
            <a:ext cx="2272680" cy="192509"/>
          </a:xfrm>
          <a:prstGeom prst="rect">
            <a:avLst/>
          </a:prstGeom>
          <a:noFill/>
          <a:ln/>
        </p:spPr>
        <p:txBody>
          <a:bodyPr wrap="none" lIns="0" tIns="0" rIns="0" bIns="0" rtlCol="0" anchor="t"/>
          <a:lstStyle/>
          <a:p>
            <a:pPr algn="l" indent="0" marL="0">
              <a:lnSpc>
                <a:spcPct val="104000"/>
              </a:lnSpc>
              <a:buNone/>
            </a:pPr>
            <a:r>
              <a:rPr lang="en-US" sz="1200" dirty="0">
                <a:solidFill>
                  <a:srgbClr val="F9EEE7"/>
                </a:solidFill>
                <a:latin typeface="Quattrocento" pitchFamily="34" charset="0"/>
                <a:ea typeface="Quattrocento" pitchFamily="34" charset="-122"/>
                <a:cs typeface="Quattrocento" pitchFamily="34" charset="-120"/>
              </a:rPr>
              <a:t>Lack of Centralized Management</a:t>
            </a:r>
            <a:endParaRPr lang="en-US" sz="1200" dirty="0"/>
          </a:p>
        </p:txBody>
      </p:sp>
      <p:sp>
        <p:nvSpPr>
          <p:cNvPr id="14" name="Text 9"/>
          <p:cNvSpPr/>
          <p:nvPr/>
        </p:nvSpPr>
        <p:spPr>
          <a:xfrm>
            <a:off x="6196757" y="2801838"/>
            <a:ext cx="2278484" cy="1047006"/>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Administrators have no unified dashboard to oversee all active tickets, assign priorities, or measure team performance — making it difficult to maintain service quality at scale.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23577" y="923553"/>
            <a:ext cx="742876" cy="245938"/>
          </a:xfrm>
          <a:prstGeom prst="roundRect">
            <a:avLst>
              <a:gd name="adj" fmla="val 6388"/>
            </a:avLst>
          </a:prstGeom>
          <a:noFill/>
          <a:ln/>
          <a:effectLst>
            <a:outerShdw sx="100000" sy="100000" kx="0" ky="0" algn="bl" rotWithShape="0" blurRad="101600" dist="50800" dir="16200000">
              <a:srgbClr val="ef9c82">
                <a:alpha val="100000"/>
              </a:srgbClr>
            </a:outerShdw>
          </a:effectLst>
        </p:spPr>
        <p:txBody>
          <a:bodyPr/>
          <a:p/>
        </p:txBody>
      </p:sp>
      <p:sp>
        <p:nvSpPr>
          <p:cNvPr id="3" name="Text 1"/>
          <p:cNvSpPr/>
          <p:nvPr/>
        </p:nvSpPr>
        <p:spPr>
          <a:xfrm>
            <a:off x="602084" y="962769"/>
            <a:ext cx="1043062" cy="167506"/>
          </a:xfrm>
          <a:prstGeom prst="rect">
            <a:avLst/>
          </a:prstGeom>
          <a:noFill/>
          <a:ln/>
        </p:spPr>
        <p:txBody>
          <a:bodyPr wrap="none" lIns="0" tIns="0" rIns="0" bIns="0" rtlCol="0" anchor="t"/>
          <a:lstStyle/>
          <a:p>
            <a:pPr algn="l" indent="0" marL="0">
              <a:lnSpc>
                <a:spcPct val="133000"/>
              </a:lnSpc>
              <a:buNone/>
            </a:pPr>
            <a:r>
              <a:rPr lang="en-US" sz="800" dirty="0">
                <a:solidFill>
                  <a:srgbClr val="EF9C82"/>
                </a:solidFill>
                <a:latin typeface="Quattrocento" pitchFamily="34" charset="0"/>
                <a:ea typeface="Quattrocento" pitchFamily="34" charset="-122"/>
                <a:cs typeface="Quattrocento" pitchFamily="34" charset="-120"/>
              </a:rPr>
              <a:t>OBJECTIVES</a:t>
            </a:r>
            <a:endParaRPr lang="en-US" sz="800" dirty="0"/>
          </a:p>
        </p:txBody>
      </p:sp>
      <p:sp>
        <p:nvSpPr>
          <p:cNvPr id="4" name="Text 2"/>
          <p:cNvSpPr/>
          <p:nvPr/>
        </p:nvSpPr>
        <p:spPr>
          <a:xfrm>
            <a:off x="523577" y="1221804"/>
            <a:ext cx="3537421" cy="384944"/>
          </a:xfrm>
          <a:prstGeom prst="rect">
            <a:avLst/>
          </a:prstGeom>
          <a:noFill/>
          <a:ln/>
        </p:spPr>
        <p:txBody>
          <a:bodyPr wrap="none" lIns="0" tIns="0" rIns="0" bIns="0" rtlCol="0" anchor="t"/>
          <a:lstStyle/>
          <a:p>
            <a:pPr algn="l" indent="0" marL="0">
              <a:lnSpc>
                <a:spcPct val="104000"/>
              </a:lnSpc>
              <a:buNone/>
            </a:pPr>
            <a:r>
              <a:rPr lang="en-US" sz="2400" dirty="0">
                <a:solidFill>
                  <a:srgbClr val="FFD9BE"/>
                </a:solidFill>
                <a:latin typeface="Quattrocento" pitchFamily="34" charset="0"/>
                <a:ea typeface="Quattrocento" pitchFamily="34" charset="-122"/>
                <a:cs typeface="Quattrocento" pitchFamily="34" charset="-120"/>
              </a:rPr>
              <a:t>Project Objectives</a:t>
            </a:r>
            <a:endParaRPr lang="en-US" sz="2400" dirty="0"/>
          </a:p>
        </p:txBody>
      </p:sp>
      <p:sp>
        <p:nvSpPr>
          <p:cNvPr id="5" name="Text 3"/>
          <p:cNvSpPr/>
          <p:nvPr/>
        </p:nvSpPr>
        <p:spPr>
          <a:xfrm>
            <a:off x="523577" y="1803053"/>
            <a:ext cx="8096845" cy="418802"/>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This project aims to address the inefficiencies of manual support handling by developing a full-stack web application that streamlines the entire ticket lifecycle — from submission to resolution.</a:t>
            </a:r>
            <a:endParaRPr lang="en-US" sz="10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3577" y="2369121"/>
            <a:ext cx="327273" cy="327273"/>
          </a:xfrm>
          <a:prstGeom prst="rect">
            <a:avLst/>
          </a:prstGeom>
        </p:spPr>
      </p:pic>
      <p:sp>
        <p:nvSpPr>
          <p:cNvPr id="7" name="Text 4"/>
          <p:cNvSpPr/>
          <p:nvPr/>
        </p:nvSpPr>
        <p:spPr>
          <a:xfrm>
            <a:off x="1014487" y="2369121"/>
            <a:ext cx="1701626" cy="192509"/>
          </a:xfrm>
          <a:prstGeom prst="rect">
            <a:avLst/>
          </a:prstGeom>
          <a:noFill/>
          <a:ln/>
        </p:spPr>
        <p:txBody>
          <a:bodyPr wrap="none" lIns="0" tIns="0" rIns="0" bIns="0" rtlCol="0" anchor="t"/>
          <a:lstStyle/>
          <a:p>
            <a:pPr algn="l" indent="0" marL="0">
              <a:lnSpc>
                <a:spcPct val="104000"/>
              </a:lnSpc>
              <a:buNone/>
            </a:pPr>
            <a:r>
              <a:rPr lang="en-US" sz="1200" dirty="0">
                <a:solidFill>
                  <a:srgbClr val="F9EEE7"/>
                </a:solidFill>
                <a:latin typeface="Quattrocento" pitchFamily="34" charset="0"/>
                <a:ea typeface="Quattrocento" pitchFamily="34" charset="-122"/>
                <a:cs typeface="Quattrocento" pitchFamily="34" charset="-120"/>
              </a:rPr>
              <a:t>Create &amp; Manage Tickets</a:t>
            </a:r>
            <a:endParaRPr lang="en-US" sz="1200" dirty="0"/>
          </a:p>
        </p:txBody>
      </p:sp>
      <p:sp>
        <p:nvSpPr>
          <p:cNvPr id="8" name="Text 5"/>
          <p:cNvSpPr/>
          <p:nvPr/>
        </p:nvSpPr>
        <p:spPr>
          <a:xfrm>
            <a:off x="1014487" y="2640137"/>
            <a:ext cx="3475658" cy="628204"/>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Enable users to submit support tickets with title, description, and priority level through an intuitive interface.</a:t>
            </a:r>
            <a:endParaRPr lang="en-US" sz="10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53781" y="2369121"/>
            <a:ext cx="327273" cy="327273"/>
          </a:xfrm>
          <a:prstGeom prst="rect">
            <a:avLst/>
          </a:prstGeom>
        </p:spPr>
      </p:pic>
      <p:sp>
        <p:nvSpPr>
          <p:cNvPr id="10" name="Text 6"/>
          <p:cNvSpPr/>
          <p:nvPr/>
        </p:nvSpPr>
        <p:spPr>
          <a:xfrm>
            <a:off x="5144691" y="2369121"/>
            <a:ext cx="1540073" cy="192509"/>
          </a:xfrm>
          <a:prstGeom prst="rect">
            <a:avLst/>
          </a:prstGeom>
          <a:noFill/>
          <a:ln/>
        </p:spPr>
        <p:txBody>
          <a:bodyPr wrap="none" lIns="0" tIns="0" rIns="0" bIns="0" rtlCol="0" anchor="t"/>
          <a:lstStyle/>
          <a:p>
            <a:pPr algn="l" indent="0" marL="0">
              <a:lnSpc>
                <a:spcPct val="104000"/>
              </a:lnSpc>
              <a:buNone/>
            </a:pPr>
            <a:r>
              <a:rPr lang="en-US" sz="1200" dirty="0">
                <a:solidFill>
                  <a:srgbClr val="F9EEE7"/>
                </a:solidFill>
                <a:latin typeface="Quattrocento" pitchFamily="34" charset="0"/>
                <a:ea typeface="Quattrocento" pitchFamily="34" charset="-122"/>
                <a:cs typeface="Quattrocento" pitchFamily="34" charset="-120"/>
              </a:rPr>
              <a:t>Track Ticket Status</a:t>
            </a:r>
            <a:endParaRPr lang="en-US" sz="1200" dirty="0"/>
          </a:p>
        </p:txBody>
      </p:sp>
      <p:sp>
        <p:nvSpPr>
          <p:cNvPr id="11" name="Text 7"/>
          <p:cNvSpPr/>
          <p:nvPr/>
        </p:nvSpPr>
        <p:spPr>
          <a:xfrm>
            <a:off x="5144691" y="2640137"/>
            <a:ext cx="3475732" cy="418802"/>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Provide real-time visibility into ticket progress — Open, In Progress, or Resolved — for both users and admins.</a:t>
            </a:r>
            <a:endParaRPr lang="en-US" sz="10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77" y="3530129"/>
            <a:ext cx="327273" cy="327273"/>
          </a:xfrm>
          <a:prstGeom prst="rect">
            <a:avLst/>
          </a:prstGeom>
        </p:spPr>
      </p:pic>
      <p:sp>
        <p:nvSpPr>
          <p:cNvPr id="13" name="Text 8"/>
          <p:cNvSpPr/>
          <p:nvPr/>
        </p:nvSpPr>
        <p:spPr>
          <a:xfrm>
            <a:off x="1014487" y="3530129"/>
            <a:ext cx="1943695" cy="192509"/>
          </a:xfrm>
          <a:prstGeom prst="rect">
            <a:avLst/>
          </a:prstGeom>
          <a:noFill/>
          <a:ln/>
        </p:spPr>
        <p:txBody>
          <a:bodyPr wrap="none" lIns="0" tIns="0" rIns="0" bIns="0" rtlCol="0" anchor="t"/>
          <a:lstStyle/>
          <a:p>
            <a:pPr algn="l" indent="0" marL="0">
              <a:lnSpc>
                <a:spcPct val="104000"/>
              </a:lnSpc>
              <a:buNone/>
            </a:pPr>
            <a:r>
              <a:rPr lang="en-US" sz="1200" dirty="0">
                <a:solidFill>
                  <a:srgbClr val="F9EEE7"/>
                </a:solidFill>
                <a:latin typeface="Quattrocento" pitchFamily="34" charset="0"/>
                <a:ea typeface="Quattrocento" pitchFamily="34" charset="-122"/>
                <a:cs typeface="Quattrocento" pitchFamily="34" charset="-120"/>
              </a:rPr>
              <a:t>Improve Resolution Process</a:t>
            </a:r>
            <a:endParaRPr lang="en-US" sz="1200" dirty="0"/>
          </a:p>
        </p:txBody>
      </p:sp>
      <p:sp>
        <p:nvSpPr>
          <p:cNvPr id="14" name="Text 9"/>
          <p:cNvSpPr/>
          <p:nvPr/>
        </p:nvSpPr>
        <p:spPr>
          <a:xfrm>
            <a:off x="1014487" y="3801145"/>
            <a:ext cx="3475658" cy="418802"/>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Streamline admin workflows with a dedicated dashboard for reviewing, updating, and closing tickets efficiently.</a:t>
            </a:r>
            <a:endParaRPr lang="en-US" sz="10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53781" y="3530129"/>
            <a:ext cx="327273" cy="327273"/>
          </a:xfrm>
          <a:prstGeom prst="rect">
            <a:avLst/>
          </a:prstGeom>
        </p:spPr>
      </p:pic>
      <p:sp>
        <p:nvSpPr>
          <p:cNvPr id="16" name="Text 10"/>
          <p:cNvSpPr/>
          <p:nvPr/>
        </p:nvSpPr>
        <p:spPr>
          <a:xfrm>
            <a:off x="5144691" y="3530129"/>
            <a:ext cx="1609874" cy="192509"/>
          </a:xfrm>
          <a:prstGeom prst="rect">
            <a:avLst/>
          </a:prstGeom>
          <a:noFill/>
          <a:ln/>
        </p:spPr>
        <p:txBody>
          <a:bodyPr wrap="none" lIns="0" tIns="0" rIns="0" bIns="0" rtlCol="0" anchor="t"/>
          <a:lstStyle/>
          <a:p>
            <a:pPr algn="l" indent="0" marL="0">
              <a:lnSpc>
                <a:spcPct val="104000"/>
              </a:lnSpc>
              <a:buNone/>
            </a:pPr>
            <a:r>
              <a:rPr lang="en-US" sz="1200" dirty="0">
                <a:solidFill>
                  <a:srgbClr val="F9EEE7"/>
                </a:solidFill>
                <a:latin typeface="Quattrocento" pitchFamily="34" charset="0"/>
                <a:ea typeface="Quattrocento" pitchFamily="34" charset="-122"/>
                <a:cs typeface="Quattrocento" pitchFamily="34" charset="-120"/>
              </a:rPr>
              <a:t>Maintain Ticket History</a:t>
            </a:r>
            <a:endParaRPr lang="en-US" sz="1200" dirty="0"/>
          </a:p>
        </p:txBody>
      </p:sp>
      <p:sp>
        <p:nvSpPr>
          <p:cNvPr id="17" name="Text 11"/>
          <p:cNvSpPr/>
          <p:nvPr/>
        </p:nvSpPr>
        <p:spPr>
          <a:xfrm>
            <a:off x="5144691" y="3801145"/>
            <a:ext cx="3475732" cy="418802"/>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Preserve a complete audit trail of all tickets, enabling trend analysis and accountability over time.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23577" y="692646"/>
            <a:ext cx="943124" cy="245938"/>
          </a:xfrm>
          <a:prstGeom prst="roundRect">
            <a:avLst>
              <a:gd name="adj" fmla="val 6388"/>
            </a:avLst>
          </a:prstGeom>
          <a:noFill/>
          <a:ln/>
          <a:effectLst>
            <a:outerShdw sx="100000" sy="100000" kx="0" ky="0" algn="bl" rotWithShape="0" blurRad="101600" dist="50800" dir="16200000">
              <a:srgbClr val="ef9c82">
                <a:alpha val="100000"/>
              </a:srgbClr>
            </a:outerShdw>
          </a:effectLst>
        </p:spPr>
        <p:txBody>
          <a:bodyPr/>
          <a:p/>
        </p:txBody>
      </p:sp>
      <p:sp>
        <p:nvSpPr>
          <p:cNvPr id="3" name="Text 1"/>
          <p:cNvSpPr/>
          <p:nvPr/>
        </p:nvSpPr>
        <p:spPr>
          <a:xfrm>
            <a:off x="602084" y="731862"/>
            <a:ext cx="1243310" cy="167506"/>
          </a:xfrm>
          <a:prstGeom prst="rect">
            <a:avLst/>
          </a:prstGeom>
          <a:noFill/>
          <a:ln/>
        </p:spPr>
        <p:txBody>
          <a:bodyPr wrap="none" lIns="0" tIns="0" rIns="0" bIns="0" rtlCol="0" anchor="t"/>
          <a:lstStyle/>
          <a:p>
            <a:pPr algn="l" indent="0" marL="0">
              <a:lnSpc>
                <a:spcPct val="133000"/>
              </a:lnSpc>
              <a:buNone/>
            </a:pPr>
            <a:r>
              <a:rPr lang="en-US" sz="800" dirty="0">
                <a:solidFill>
                  <a:srgbClr val="EF9C82"/>
                </a:solidFill>
                <a:latin typeface="Quattrocento" pitchFamily="34" charset="0"/>
                <a:ea typeface="Quattrocento" pitchFamily="34" charset="-122"/>
                <a:cs typeface="Quattrocento" pitchFamily="34" charset="-120"/>
              </a:rPr>
              <a:t>TECHNOLOGIES</a:t>
            </a:r>
            <a:endParaRPr lang="en-US" sz="800" dirty="0"/>
          </a:p>
        </p:txBody>
      </p:sp>
      <p:sp>
        <p:nvSpPr>
          <p:cNvPr id="4" name="Text 2"/>
          <p:cNvSpPr/>
          <p:nvPr/>
        </p:nvSpPr>
        <p:spPr>
          <a:xfrm>
            <a:off x="523577" y="990898"/>
            <a:ext cx="3537421" cy="384944"/>
          </a:xfrm>
          <a:prstGeom prst="rect">
            <a:avLst/>
          </a:prstGeom>
          <a:noFill/>
          <a:ln/>
        </p:spPr>
        <p:txBody>
          <a:bodyPr wrap="none" lIns="0" tIns="0" rIns="0" bIns="0" rtlCol="0" anchor="t"/>
          <a:lstStyle/>
          <a:p>
            <a:pPr algn="l" indent="0" marL="0">
              <a:lnSpc>
                <a:spcPct val="104000"/>
              </a:lnSpc>
              <a:buNone/>
            </a:pPr>
            <a:r>
              <a:rPr lang="en-US" sz="2400" dirty="0">
                <a:solidFill>
                  <a:srgbClr val="FFD9BE"/>
                </a:solidFill>
                <a:latin typeface="Quattrocento" pitchFamily="34" charset="0"/>
                <a:ea typeface="Quattrocento" pitchFamily="34" charset="-122"/>
                <a:cs typeface="Quattrocento" pitchFamily="34" charset="-120"/>
              </a:rPr>
              <a:t>Technology Stack</a:t>
            </a:r>
            <a:endParaRPr lang="en-US" sz="2400" dirty="0"/>
          </a:p>
        </p:txBody>
      </p:sp>
      <p:sp>
        <p:nvSpPr>
          <p:cNvPr id="5" name="Text 3"/>
          <p:cNvSpPr/>
          <p:nvPr/>
        </p:nvSpPr>
        <p:spPr>
          <a:xfrm>
            <a:off x="523577" y="1572146"/>
            <a:ext cx="8096845" cy="418802"/>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The Support Ticket System is built on a modern, full-stack JavaScript ecosystem, ensuring fast performance, scalability, and a seamless developer experience.</a:t>
            </a:r>
            <a:endParaRPr lang="en-US" sz="1000" dirty="0"/>
          </a:p>
        </p:txBody>
      </p:sp>
      <p:sp>
        <p:nvSpPr>
          <p:cNvPr id="6" name="Shape 4"/>
          <p:cNvSpPr/>
          <p:nvPr/>
        </p:nvSpPr>
        <p:spPr>
          <a:xfrm>
            <a:off x="429295" y="2138214"/>
            <a:ext cx="4077295" cy="2312566"/>
          </a:xfrm>
          <a:prstGeom prst="roundRect">
            <a:avLst>
              <a:gd name="adj" fmla="val 849"/>
            </a:avLst>
          </a:prstGeom>
          <a:solidFill>
            <a:srgbClr val="1D4241"/>
          </a:solidFill>
          <a:ln/>
        </p:spPr>
        <p:txBody>
          <a:bodyPr/>
          <a:p/>
        </p:txBody>
      </p:sp>
      <p:sp>
        <p:nvSpPr>
          <p:cNvPr id="7" name="Text 5"/>
          <p:cNvSpPr/>
          <p:nvPr/>
        </p:nvSpPr>
        <p:spPr>
          <a:xfrm>
            <a:off x="560189" y="2269108"/>
            <a:ext cx="1997273" cy="192509"/>
          </a:xfrm>
          <a:prstGeom prst="rect">
            <a:avLst/>
          </a:prstGeom>
          <a:noFill/>
          <a:ln/>
        </p:spPr>
        <p:txBody>
          <a:bodyPr wrap="none" lIns="0" tIns="0" rIns="0" bIns="0" rtlCol="0" anchor="t"/>
          <a:lstStyle/>
          <a:p>
            <a:pPr algn="l" indent="0" marL="0">
              <a:lnSpc>
                <a:spcPct val="104000"/>
              </a:lnSpc>
              <a:buNone/>
            </a:pPr>
            <a:r>
              <a:rPr lang="en-US" sz="1200" dirty="0">
                <a:solidFill>
                  <a:srgbClr val="FFD9BE"/>
                </a:solidFill>
                <a:latin typeface="Quattrocento" pitchFamily="34" charset="0"/>
                <a:ea typeface="Quattrocento" pitchFamily="34" charset="-122"/>
                <a:cs typeface="Quattrocento" pitchFamily="34" charset="-120"/>
              </a:rPr>
              <a:t>Frontend</a:t>
            </a:r>
            <a:endParaRPr lang="en-US" sz="1200" dirty="0"/>
          </a:p>
        </p:txBody>
      </p:sp>
      <p:sp>
        <p:nvSpPr>
          <p:cNvPr id="8" name="Text 6"/>
          <p:cNvSpPr/>
          <p:nvPr/>
        </p:nvSpPr>
        <p:spPr>
          <a:xfrm>
            <a:off x="560189" y="2592512"/>
            <a:ext cx="3815507" cy="1347936"/>
          </a:xfrm>
          <a:prstGeom prst="rect">
            <a:avLst/>
          </a:prstGeom>
          <a:noFill/>
          <a:ln/>
        </p:spPr>
        <p:txBody>
          <a:bodyPr wrap="square" lIns="0" tIns="0" rIns="0" bIns="0" rtlCol="0" anchor="t">
            <a:normAutofit/>
          </a:bodyPr>
          <a:lstStyle/>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Next.js</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React-based framework for server-rendered, SEO-friendly pages</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React.js</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Component-driven UI library for dynamic interfaces</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Tailwind CSS</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Utility-first CSS framework for rapid, responsive styling</a:t>
            </a:r>
            <a:endParaRPr lang="en-US" sz="1000" dirty="0"/>
          </a:p>
        </p:txBody>
      </p:sp>
      <p:sp>
        <p:nvSpPr>
          <p:cNvPr id="9" name="Text 7"/>
          <p:cNvSpPr/>
          <p:nvPr/>
        </p:nvSpPr>
        <p:spPr>
          <a:xfrm>
            <a:off x="4736455" y="2269108"/>
            <a:ext cx="2206898" cy="192509"/>
          </a:xfrm>
          <a:prstGeom prst="rect">
            <a:avLst/>
          </a:prstGeom>
          <a:noFill/>
          <a:ln/>
        </p:spPr>
        <p:txBody>
          <a:bodyPr wrap="none" lIns="0" tIns="0" rIns="0" bIns="0" rtlCol="0" anchor="t"/>
          <a:lstStyle/>
          <a:p>
            <a:pPr algn="l" indent="0" marL="0">
              <a:lnSpc>
                <a:spcPct val="104000"/>
              </a:lnSpc>
              <a:buNone/>
            </a:pPr>
            <a:r>
              <a:rPr lang="en-US" sz="1200" dirty="0">
                <a:solidFill>
                  <a:srgbClr val="FFD9BE"/>
                </a:solidFill>
                <a:latin typeface="Quattrocento" pitchFamily="34" charset="0"/>
                <a:ea typeface="Quattrocento" pitchFamily="34" charset="-122"/>
                <a:cs typeface="Quattrocento" pitchFamily="34" charset="-120"/>
              </a:rPr>
              <a:t>Backend &amp; Infrastructure</a:t>
            </a:r>
            <a:endParaRPr lang="en-US" sz="1200" dirty="0"/>
          </a:p>
        </p:txBody>
      </p:sp>
      <p:sp>
        <p:nvSpPr>
          <p:cNvPr id="10" name="Text 8"/>
          <p:cNvSpPr/>
          <p:nvPr/>
        </p:nvSpPr>
        <p:spPr>
          <a:xfrm>
            <a:off x="4736455" y="2592512"/>
            <a:ext cx="3888730" cy="1812503"/>
          </a:xfrm>
          <a:prstGeom prst="rect">
            <a:avLst/>
          </a:prstGeom>
          <a:noFill/>
          <a:ln/>
        </p:spPr>
        <p:txBody>
          <a:bodyPr wrap="square" lIns="0" tIns="0" rIns="0" bIns="0" rtlCol="0" anchor="t">
            <a:normAutofit/>
          </a:bodyPr>
          <a:lstStyle/>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Node.js</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JavaScript runtime for building scalable server-side applications</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Express.js</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Lightweight web framework for RESTful API development</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MongoDB Atlas</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Cloud-hosted NoSQL database for flexible document storage</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GitHub</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Version control and collaborative development platform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23577" y="371921"/>
            <a:ext cx="479227" cy="105966"/>
          </a:xfrm>
          <a:prstGeom prst="roundRect">
            <a:avLst>
              <a:gd name="adj" fmla="val 7644"/>
            </a:avLst>
          </a:prstGeom>
          <a:noFill/>
          <a:ln/>
          <a:effectLst>
            <a:outerShdw sx="100000" sy="100000" kx="0" ky="0" algn="bl" rotWithShape="0" blurRad="101600" dist="50800" dir="16200000">
              <a:srgbClr val="ef9c82">
                <a:alpha val="100000"/>
              </a:srgbClr>
            </a:outerShdw>
          </a:effectLst>
        </p:spPr>
        <p:txBody>
          <a:bodyPr/>
          <a:p/>
        </p:txBody>
      </p:sp>
      <p:sp>
        <p:nvSpPr>
          <p:cNvPr id="3" name="Text 1"/>
          <p:cNvSpPr/>
          <p:nvPr/>
        </p:nvSpPr>
        <p:spPr>
          <a:xfrm>
            <a:off x="564059" y="392162"/>
            <a:ext cx="855464" cy="65484"/>
          </a:xfrm>
          <a:prstGeom prst="rect">
            <a:avLst/>
          </a:prstGeom>
          <a:noFill/>
          <a:ln/>
        </p:spPr>
        <p:txBody>
          <a:bodyPr wrap="none" lIns="0" tIns="0" rIns="0" bIns="0" rtlCol="0" anchor="t"/>
          <a:lstStyle/>
          <a:p>
            <a:pPr algn="l" indent="0" marL="0">
              <a:lnSpc>
                <a:spcPct val="101000"/>
              </a:lnSpc>
              <a:buNone/>
            </a:pPr>
            <a:r>
              <a:rPr lang="en-US" sz="400" dirty="0">
                <a:solidFill>
                  <a:srgbClr val="EF9C82"/>
                </a:solidFill>
                <a:latin typeface="Quattrocento" pitchFamily="34" charset="0"/>
                <a:ea typeface="Quattrocento" pitchFamily="34" charset="-122"/>
                <a:cs typeface="Quattrocento" pitchFamily="34" charset="-120"/>
              </a:rPr>
              <a:t>ARCHITECTURE</a:t>
            </a:r>
            <a:endParaRPr lang="en-US" sz="400" dirty="0"/>
          </a:p>
        </p:txBody>
      </p:sp>
      <p:sp>
        <p:nvSpPr>
          <p:cNvPr id="4" name="Text 2"/>
          <p:cNvSpPr/>
          <p:nvPr/>
        </p:nvSpPr>
        <p:spPr>
          <a:xfrm>
            <a:off x="523577" y="491803"/>
            <a:ext cx="2045419" cy="198462"/>
          </a:xfrm>
          <a:prstGeom prst="rect">
            <a:avLst/>
          </a:prstGeom>
          <a:noFill/>
          <a:ln/>
        </p:spPr>
        <p:txBody>
          <a:bodyPr wrap="none" lIns="0" tIns="0" rIns="0" bIns="0" rtlCol="0" anchor="t"/>
          <a:lstStyle/>
          <a:p>
            <a:pPr algn="l" indent="0" marL="0">
              <a:lnSpc>
                <a:spcPct val="104000"/>
              </a:lnSpc>
              <a:buNone/>
            </a:pPr>
            <a:r>
              <a:rPr lang="en-US" sz="1250" dirty="0">
                <a:solidFill>
                  <a:srgbClr val="FFD9BE"/>
                </a:solidFill>
                <a:latin typeface="Quattrocento" pitchFamily="34" charset="0"/>
                <a:ea typeface="Quattrocento" pitchFamily="34" charset="-122"/>
                <a:cs typeface="Quattrocento" pitchFamily="34" charset="-120"/>
              </a:rPr>
              <a:t>System Architecture</a:t>
            </a:r>
            <a:endParaRPr lang="en-US" sz="1250" dirty="0"/>
          </a:p>
        </p:txBody>
      </p:sp>
      <p:sp>
        <p:nvSpPr>
          <p:cNvPr id="5" name="Text 3"/>
          <p:cNvSpPr/>
          <p:nvPr/>
        </p:nvSpPr>
        <p:spPr>
          <a:xfrm>
            <a:off x="523577" y="742429"/>
            <a:ext cx="8554045" cy="81781"/>
          </a:xfrm>
          <a:prstGeom prst="rect">
            <a:avLst/>
          </a:prstGeom>
          <a:noFill/>
          <a:ln/>
        </p:spPr>
        <p:txBody>
          <a:bodyPr wrap="none" lIns="0" tIns="0" rIns="0" bIns="0" rtlCol="0" anchor="t"/>
          <a:lstStyle/>
          <a:p>
            <a:pPr algn="l" indent="0" marL="0">
              <a:lnSpc>
                <a:spcPct val="101000"/>
              </a:lnSpc>
              <a:buNone/>
            </a:pPr>
            <a:r>
              <a:rPr lang="en-US" sz="500" dirty="0">
                <a:solidFill>
                  <a:srgbClr val="F9EEE7"/>
                </a:solidFill>
                <a:latin typeface="Quattrocento" pitchFamily="34" charset="0"/>
                <a:ea typeface="Quattrocento" pitchFamily="34" charset="-122"/>
                <a:cs typeface="Quattrocento" pitchFamily="34" charset="-120"/>
              </a:rPr>
              <a:t>The application follows a classic three-tier architecture, separating concerns between the client, server, and data layers for maintainability and scalability.</a:t>
            </a:r>
            <a:endParaRPr lang="en-US" sz="500" dirty="0"/>
          </a:p>
        </p:txBody>
      </p:sp>
      <p:pic>
        <p:nvPicPr>
          <p:cNvPr id="6" name="Image 0" descr="preencoded.png">    </p:cNvPr>
          <p:cNvPicPr>
            <a:picLocks noChangeAspect="1"/>
          </p:cNvPicPr>
          <p:nvPr/>
        </p:nvPicPr>
        <p:blipFill>
          <a:blip r:embed="rId1"/>
          <a:stretch>
            <a:fillRect/>
          </a:stretch>
        </p:blipFill>
        <p:spPr>
          <a:xfrm>
            <a:off x="523577" y="863352"/>
            <a:ext cx="8096845" cy="3705523"/>
          </a:xfrm>
          <a:prstGeom prst="rect">
            <a:avLst/>
          </a:prstGeom>
        </p:spPr>
      </p:pic>
      <p:sp>
        <p:nvSpPr>
          <p:cNvPr id="7" name="Text 4"/>
          <p:cNvSpPr/>
          <p:nvPr/>
        </p:nvSpPr>
        <p:spPr>
          <a:xfrm>
            <a:off x="6454570" y="1383007"/>
            <a:ext cx="1685648" cy="210581"/>
          </a:xfrm>
          <a:prstGeom prst="rect">
            <a:avLst/>
          </a:prstGeom>
          <a:noFill/>
          <a:ln/>
        </p:spPr>
        <p:txBody>
          <a:bodyPr wrap="none" lIns="0" tIns="0" rIns="0" bIns="0" rtlCol="0" anchor="t"/>
          <a:lstStyle/>
          <a:p>
            <a:pPr algn="l" indent="0" marL="0">
              <a:lnSpc>
                <a:spcPct val="104000"/>
              </a:lnSpc>
              <a:buNone/>
            </a:pPr>
            <a:r>
              <a:rPr lang="en-US" sz="1300" dirty="0">
                <a:solidFill>
                  <a:srgbClr val="F9EEE7"/>
                </a:solidFill>
                <a:latin typeface="Quattrocento" pitchFamily="34" charset="0"/>
                <a:ea typeface="Quattrocento" pitchFamily="34" charset="-122"/>
                <a:cs typeface="Quattrocento" pitchFamily="34" charset="-120"/>
              </a:rPr>
              <a:t>Backend &amp; Data</a:t>
            </a:r>
            <a:endParaRPr lang="en-US" sz="1300" dirty="0"/>
          </a:p>
        </p:txBody>
      </p:sp>
      <p:sp>
        <p:nvSpPr>
          <p:cNvPr id="8" name="Text 5"/>
          <p:cNvSpPr/>
          <p:nvPr/>
        </p:nvSpPr>
        <p:spPr>
          <a:xfrm>
            <a:off x="6454570" y="1657273"/>
            <a:ext cx="1974217" cy="271405"/>
          </a:xfrm>
          <a:prstGeom prst="rect">
            <a:avLst/>
          </a:prstGeom>
          <a:noFill/>
          <a:ln/>
        </p:spPr>
        <p:txBody>
          <a:bodyPr wrap="square" lIns="0" tIns="0" rIns="0" bIns="0" rtlCol="0" anchor="t">
            <a:normAutofit/>
          </a:bodyPr>
          <a:lstStyle/>
          <a:p>
            <a:pPr algn="l" indent="0" marL="0">
              <a:lnSpc>
                <a:spcPct val="79000"/>
              </a:lnSpc>
              <a:buNone/>
            </a:pPr>
            <a:r>
              <a:rPr lang="en-US" sz="1100" dirty="0">
                <a:solidFill>
                  <a:srgbClr val="F9EEE7"/>
                </a:solidFill>
                <a:latin typeface="Quattrocento" pitchFamily="34" charset="0"/>
                <a:ea typeface="Quattrocento" pitchFamily="34" charset="-122"/>
                <a:cs typeface="Quattrocento" pitchFamily="34" charset="-120"/>
              </a:rPr>
              <a:t>Node.js/Express API → MongoDB Atlas</a:t>
            </a:r>
            <a:endParaRPr lang="en-US" sz="1100" dirty="0"/>
          </a:p>
        </p:txBody>
      </p:sp>
      <p:sp>
        <p:nvSpPr>
          <p:cNvPr id="9" name="Text 6"/>
          <p:cNvSpPr/>
          <p:nvPr/>
        </p:nvSpPr>
        <p:spPr>
          <a:xfrm>
            <a:off x="844369" y="2600972"/>
            <a:ext cx="1685647" cy="210582"/>
          </a:xfrm>
          <a:prstGeom prst="rect">
            <a:avLst/>
          </a:prstGeom>
          <a:noFill/>
          <a:ln/>
        </p:spPr>
        <p:txBody>
          <a:bodyPr wrap="none" lIns="0" tIns="0" rIns="0" bIns="0" rtlCol="0" anchor="t"/>
          <a:lstStyle/>
          <a:p>
            <a:pPr algn="r" indent="0" marL="0">
              <a:lnSpc>
                <a:spcPct val="104000"/>
              </a:lnSpc>
              <a:buNone/>
            </a:pPr>
            <a:r>
              <a:rPr lang="en-US" sz="1300" dirty="0">
                <a:solidFill>
                  <a:srgbClr val="F9EEE7"/>
                </a:solidFill>
                <a:latin typeface="Quattrocento" pitchFamily="34" charset="0"/>
                <a:ea typeface="Quattrocento" pitchFamily="34" charset="-122"/>
                <a:cs typeface="Quattrocento" pitchFamily="34" charset="-120"/>
              </a:rPr>
              <a:t>Frontend Layer</a:t>
            </a:r>
            <a:endParaRPr lang="en-US" sz="1300" dirty="0"/>
          </a:p>
        </p:txBody>
      </p:sp>
      <p:sp>
        <p:nvSpPr>
          <p:cNvPr id="10" name="Text 7"/>
          <p:cNvSpPr/>
          <p:nvPr/>
        </p:nvSpPr>
        <p:spPr>
          <a:xfrm>
            <a:off x="715010" y="2875238"/>
            <a:ext cx="1815006" cy="271405"/>
          </a:xfrm>
          <a:prstGeom prst="rect">
            <a:avLst/>
          </a:prstGeom>
          <a:noFill/>
          <a:ln/>
        </p:spPr>
        <p:txBody>
          <a:bodyPr wrap="square" lIns="0" tIns="0" rIns="0" bIns="0" rtlCol="0" anchor="t">
            <a:normAutofit/>
          </a:bodyPr>
          <a:lstStyle/>
          <a:p>
            <a:pPr algn="r" indent="0" marL="0">
              <a:lnSpc>
                <a:spcPct val="79000"/>
              </a:lnSpc>
              <a:buNone/>
            </a:pPr>
            <a:r>
              <a:rPr lang="en-US" sz="1100" dirty="0">
                <a:solidFill>
                  <a:srgbClr val="F9EEE7"/>
                </a:solidFill>
                <a:latin typeface="Quattrocento" pitchFamily="34" charset="0"/>
                <a:ea typeface="Quattrocento" pitchFamily="34" charset="-122"/>
                <a:cs typeface="Quattrocento" pitchFamily="34" charset="-120"/>
              </a:rPr>
              <a:t>Next.js + React + Tailwind CSS</a:t>
            </a:r>
            <a:endParaRPr lang="en-US" sz="1100" dirty="0"/>
          </a:p>
        </p:txBody>
      </p:sp>
      <p:sp>
        <p:nvSpPr>
          <p:cNvPr id="11" name="Text 8"/>
          <p:cNvSpPr/>
          <p:nvPr/>
        </p:nvSpPr>
        <p:spPr>
          <a:xfrm>
            <a:off x="6454570" y="3297769"/>
            <a:ext cx="1685648" cy="210582"/>
          </a:xfrm>
          <a:prstGeom prst="rect">
            <a:avLst/>
          </a:prstGeom>
          <a:noFill/>
          <a:ln/>
        </p:spPr>
        <p:txBody>
          <a:bodyPr wrap="none" lIns="0" tIns="0" rIns="0" bIns="0" rtlCol="0" anchor="t"/>
          <a:lstStyle/>
          <a:p>
            <a:pPr algn="l" indent="0" marL="0">
              <a:lnSpc>
                <a:spcPct val="104000"/>
              </a:lnSpc>
              <a:buNone/>
            </a:pPr>
            <a:r>
              <a:rPr lang="en-US" sz="1300" dirty="0">
                <a:solidFill>
                  <a:srgbClr val="F9EEE7"/>
                </a:solidFill>
                <a:latin typeface="Quattrocento" pitchFamily="34" charset="0"/>
                <a:ea typeface="Quattrocento" pitchFamily="34" charset="-122"/>
                <a:cs typeface="Quattrocento" pitchFamily="34" charset="-120"/>
              </a:rPr>
              <a:t>User Browser</a:t>
            </a:r>
            <a:endParaRPr lang="en-US" sz="1300" dirty="0"/>
          </a:p>
        </p:txBody>
      </p:sp>
      <p:sp>
        <p:nvSpPr>
          <p:cNvPr id="12" name="Text 9"/>
          <p:cNvSpPr/>
          <p:nvPr/>
        </p:nvSpPr>
        <p:spPr>
          <a:xfrm>
            <a:off x="6454570" y="3572035"/>
            <a:ext cx="1974217" cy="135702"/>
          </a:xfrm>
          <a:prstGeom prst="rect">
            <a:avLst/>
          </a:prstGeom>
          <a:noFill/>
          <a:ln/>
        </p:spPr>
        <p:txBody>
          <a:bodyPr wrap="none" lIns="0" tIns="0" rIns="0" bIns="0" rtlCol="0" anchor="t"/>
          <a:lstStyle/>
          <a:p>
            <a:pPr algn="l" indent="0" marL="0">
              <a:lnSpc>
                <a:spcPct val="79000"/>
              </a:lnSpc>
              <a:buNone/>
            </a:pPr>
            <a:r>
              <a:rPr lang="en-US" sz="1100" dirty="0">
                <a:solidFill>
                  <a:srgbClr val="F9EEE7"/>
                </a:solidFill>
                <a:latin typeface="Quattrocento" pitchFamily="34" charset="0"/>
                <a:ea typeface="Quattrocento" pitchFamily="34" charset="-122"/>
                <a:cs typeface="Quattrocento" pitchFamily="34" charset="-120"/>
              </a:rPr>
              <a:t>Client interacts via browser UI</a:t>
            </a:r>
            <a:endParaRPr lang="en-US" sz="1100" dirty="0"/>
          </a:p>
        </p:txBody>
      </p:sp>
      <p:sp>
        <p:nvSpPr>
          <p:cNvPr id="13" name="Text 10"/>
          <p:cNvSpPr/>
          <p:nvPr/>
        </p:nvSpPr>
        <p:spPr>
          <a:xfrm>
            <a:off x="523577" y="4608016"/>
            <a:ext cx="8096845" cy="163562"/>
          </a:xfrm>
          <a:prstGeom prst="rect">
            <a:avLst/>
          </a:prstGeom>
          <a:noFill/>
          <a:ln/>
        </p:spPr>
        <p:txBody>
          <a:bodyPr wrap="square" lIns="0" tIns="0" rIns="0" bIns="0" rtlCol="0" anchor="t">
            <a:normAutofit/>
          </a:bodyPr>
          <a:lstStyle/>
          <a:p>
            <a:pPr algn="l" indent="0" marL="0">
              <a:lnSpc>
                <a:spcPct val="101000"/>
              </a:lnSpc>
              <a:buNone/>
            </a:pPr>
            <a:r>
              <a:rPr lang="en-US" sz="500" dirty="0">
                <a:solidFill>
                  <a:srgbClr val="F9EEE7"/>
                </a:solidFill>
                <a:latin typeface="Quattrocento" pitchFamily="34" charset="0"/>
                <a:ea typeface="Quattrocento" pitchFamily="34" charset="-122"/>
                <a:cs typeface="Quattrocento" pitchFamily="34" charset="-120"/>
              </a:rPr>
              <a:t>The </a:t>
            </a:r>
            <a:pPr algn="l" indent="0" marL="0">
              <a:lnSpc>
                <a:spcPct val="101000"/>
              </a:lnSpc>
              <a:buNone/>
            </a:pPr>
            <a:r>
              <a:rPr lang="en-US" sz="500" b="1" dirty="0">
                <a:solidFill>
                  <a:srgbClr val="F9EEE7"/>
                </a:solidFill>
                <a:latin typeface="Quattrocento Bold" pitchFamily="34" charset="0"/>
                <a:ea typeface="Quattrocento Bold" pitchFamily="34" charset="-122"/>
                <a:cs typeface="Quattrocento Bold" pitchFamily="34" charset="-120"/>
              </a:rPr>
              <a:t>User</a:t>
            </a:r>
            <a:pPr algn="l" indent="0" marL="0">
              <a:lnSpc>
                <a:spcPct val="101000"/>
              </a:lnSpc>
              <a:buNone/>
            </a:pPr>
            <a:r>
              <a:rPr lang="en-US" sz="500" dirty="0">
                <a:solidFill>
                  <a:srgbClr val="F9EEE7"/>
                </a:solidFill>
                <a:latin typeface="Quattrocento" pitchFamily="34" charset="0"/>
                <a:ea typeface="Quattrocento" pitchFamily="34" charset="-122"/>
                <a:cs typeface="Quattrocento" pitchFamily="34" charset="-120"/>
              </a:rPr>
              <a:t> interacts with the </a:t>
            </a:r>
            <a:pPr algn="l" indent="0" marL="0">
              <a:lnSpc>
                <a:spcPct val="101000"/>
              </a:lnSpc>
              <a:buNone/>
            </a:pPr>
            <a:r>
              <a:rPr lang="en-US" sz="500" b="1" dirty="0">
                <a:solidFill>
                  <a:srgbClr val="F9EEE7"/>
                </a:solidFill>
                <a:latin typeface="Quattrocento Bold" pitchFamily="34" charset="0"/>
                <a:ea typeface="Quattrocento Bold" pitchFamily="34" charset="-122"/>
                <a:cs typeface="Quattrocento Bold" pitchFamily="34" charset="-120"/>
              </a:rPr>
              <a:t>Next.js Frontend</a:t>
            </a:r>
            <a:pPr algn="l" indent="0" marL="0">
              <a:lnSpc>
                <a:spcPct val="101000"/>
              </a:lnSpc>
              <a:buNone/>
            </a:pPr>
            <a:r>
              <a:rPr lang="en-US" sz="500" dirty="0">
                <a:solidFill>
                  <a:srgbClr val="F9EEE7"/>
                </a:solidFill>
                <a:latin typeface="Quattrocento" pitchFamily="34" charset="0"/>
                <a:ea typeface="Quattrocento" pitchFamily="34" charset="-122"/>
                <a:cs typeface="Quattrocento" pitchFamily="34" charset="-120"/>
              </a:rPr>
              <a:t>, which sends API requests to the </a:t>
            </a:r>
            <a:pPr algn="l" indent="0" marL="0">
              <a:lnSpc>
                <a:spcPct val="101000"/>
              </a:lnSpc>
              <a:buNone/>
            </a:pPr>
            <a:r>
              <a:rPr lang="en-US" sz="500" b="1" dirty="0">
                <a:solidFill>
                  <a:srgbClr val="F9EEE7"/>
                </a:solidFill>
                <a:latin typeface="Quattrocento Bold" pitchFamily="34" charset="0"/>
                <a:ea typeface="Quattrocento Bold" pitchFamily="34" charset="-122"/>
                <a:cs typeface="Quattrocento Bold" pitchFamily="34" charset="-120"/>
              </a:rPr>
              <a:t>Express.js Backend</a:t>
            </a:r>
            <a:pPr algn="l" indent="0" marL="0">
              <a:lnSpc>
                <a:spcPct val="101000"/>
              </a:lnSpc>
              <a:buNone/>
            </a:pPr>
            <a:r>
              <a:rPr lang="en-US" sz="500" dirty="0">
                <a:solidFill>
                  <a:srgbClr val="F9EEE7"/>
                </a:solidFill>
                <a:latin typeface="Quattrocento" pitchFamily="34" charset="0"/>
                <a:ea typeface="Quattrocento" pitchFamily="34" charset="-122"/>
                <a:cs typeface="Quattrocento" pitchFamily="34" charset="-120"/>
              </a:rPr>
              <a:t>. The backend processes business logic and communicates with </a:t>
            </a:r>
            <a:pPr algn="l" indent="0" marL="0">
              <a:lnSpc>
                <a:spcPct val="101000"/>
              </a:lnSpc>
              <a:buNone/>
            </a:pPr>
            <a:r>
              <a:rPr lang="en-US" sz="500" b="1" dirty="0">
                <a:solidFill>
                  <a:srgbClr val="F9EEE7"/>
                </a:solidFill>
                <a:latin typeface="Quattrocento Bold" pitchFamily="34" charset="0"/>
                <a:ea typeface="Quattrocento Bold" pitchFamily="34" charset="-122"/>
                <a:cs typeface="Quattrocento Bold" pitchFamily="34" charset="-120"/>
              </a:rPr>
              <a:t>MongoDB Atlas</a:t>
            </a:r>
            <a:pPr algn="l" indent="0" marL="0">
              <a:lnSpc>
                <a:spcPct val="101000"/>
              </a:lnSpc>
              <a:buNone/>
            </a:pPr>
            <a:r>
              <a:rPr lang="en-US" sz="500" dirty="0">
                <a:solidFill>
                  <a:srgbClr val="F9EEE7"/>
                </a:solidFill>
                <a:latin typeface="Quattrocento" pitchFamily="34" charset="0"/>
                <a:ea typeface="Quattrocento" pitchFamily="34" charset="-122"/>
                <a:cs typeface="Quattrocento" pitchFamily="34" charset="-120"/>
              </a:rPr>
              <a:t> to persist and retrieve data. This separation ensures clean code organization and easy future scaling.</a:t>
            </a:r>
            <a:endParaRPr lang="en-US" sz="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23577" y="856283"/>
            <a:ext cx="1078855" cy="245938"/>
          </a:xfrm>
          <a:prstGeom prst="roundRect">
            <a:avLst>
              <a:gd name="adj" fmla="val 6388"/>
            </a:avLst>
          </a:prstGeom>
          <a:noFill/>
          <a:ln/>
          <a:effectLst>
            <a:outerShdw sx="100000" sy="100000" kx="0" ky="0" algn="bl" rotWithShape="0" blurRad="101600" dist="50800" dir="16200000">
              <a:srgbClr val="ef9c82">
                <a:alpha val="100000"/>
              </a:srgbClr>
            </a:outerShdw>
          </a:effectLst>
        </p:spPr>
        <p:txBody>
          <a:bodyPr/>
          <a:p/>
        </p:txBody>
      </p:sp>
      <p:sp>
        <p:nvSpPr>
          <p:cNvPr id="3" name="Text 1"/>
          <p:cNvSpPr/>
          <p:nvPr/>
        </p:nvSpPr>
        <p:spPr>
          <a:xfrm>
            <a:off x="602084" y="895499"/>
            <a:ext cx="1379041" cy="167506"/>
          </a:xfrm>
          <a:prstGeom prst="rect">
            <a:avLst/>
          </a:prstGeom>
          <a:noFill/>
          <a:ln/>
        </p:spPr>
        <p:txBody>
          <a:bodyPr wrap="none" lIns="0" tIns="0" rIns="0" bIns="0" rtlCol="0" anchor="t"/>
          <a:lstStyle/>
          <a:p>
            <a:pPr algn="l" indent="0" marL="0">
              <a:lnSpc>
                <a:spcPct val="133000"/>
              </a:lnSpc>
              <a:buNone/>
            </a:pPr>
            <a:r>
              <a:rPr lang="en-US" sz="800" dirty="0">
                <a:solidFill>
                  <a:srgbClr val="EF9C82"/>
                </a:solidFill>
                <a:latin typeface="Quattrocento" pitchFamily="34" charset="0"/>
                <a:ea typeface="Quattrocento" pitchFamily="34" charset="-122"/>
                <a:cs typeface="Quattrocento" pitchFamily="34" charset="-120"/>
              </a:rPr>
              <a:t>DATABASE DESIGN</a:t>
            </a:r>
            <a:endParaRPr lang="en-US" sz="800" dirty="0"/>
          </a:p>
        </p:txBody>
      </p:sp>
      <p:sp>
        <p:nvSpPr>
          <p:cNvPr id="4" name="Text 2"/>
          <p:cNvSpPr/>
          <p:nvPr/>
        </p:nvSpPr>
        <p:spPr>
          <a:xfrm>
            <a:off x="523577" y="1154534"/>
            <a:ext cx="3537421" cy="384944"/>
          </a:xfrm>
          <a:prstGeom prst="rect">
            <a:avLst/>
          </a:prstGeom>
          <a:noFill/>
          <a:ln/>
        </p:spPr>
        <p:txBody>
          <a:bodyPr wrap="none" lIns="0" tIns="0" rIns="0" bIns="0" rtlCol="0" anchor="t"/>
          <a:lstStyle/>
          <a:p>
            <a:pPr algn="l" indent="0" marL="0">
              <a:lnSpc>
                <a:spcPct val="104000"/>
              </a:lnSpc>
              <a:buNone/>
            </a:pPr>
            <a:r>
              <a:rPr lang="en-US" sz="2400" dirty="0">
                <a:solidFill>
                  <a:srgbClr val="FFD9BE"/>
                </a:solidFill>
                <a:latin typeface="Quattrocento" pitchFamily="34" charset="0"/>
                <a:ea typeface="Quattrocento" pitchFamily="34" charset="-122"/>
                <a:cs typeface="Quattrocento" pitchFamily="34" charset="-120"/>
              </a:rPr>
              <a:t>Database Schema</a:t>
            </a:r>
            <a:endParaRPr lang="en-US" sz="2400" dirty="0"/>
          </a:p>
        </p:txBody>
      </p:sp>
      <p:sp>
        <p:nvSpPr>
          <p:cNvPr id="5" name="Text 3"/>
          <p:cNvSpPr/>
          <p:nvPr/>
        </p:nvSpPr>
        <p:spPr>
          <a:xfrm>
            <a:off x="523577" y="1735782"/>
            <a:ext cx="8096845" cy="418802"/>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MongoDB Atlas stores all application data across two primary collections — </a:t>
            </a:r>
            <a:pPr algn="l" indent="0" marL="0">
              <a:lnSpc>
                <a:spcPct val="133000"/>
              </a:lnSpc>
              <a:buNone/>
            </a:pPr>
            <a:r>
              <a:rPr lang="en-US" sz="1000" b="1" dirty="0">
                <a:solidFill>
                  <a:srgbClr val="F9EEE7"/>
                </a:solidFill>
                <a:latin typeface="Quattrocento Bold" pitchFamily="34" charset="0"/>
                <a:ea typeface="Quattrocento Bold" pitchFamily="34" charset="-122"/>
                <a:cs typeface="Quattrocento Bold" pitchFamily="34" charset="-120"/>
              </a:rPr>
              <a:t>Users</a:t>
            </a:r>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 and </a:t>
            </a:r>
            <a:pPr algn="l" indent="0" marL="0">
              <a:lnSpc>
                <a:spcPct val="133000"/>
              </a:lnSpc>
              <a:buNone/>
            </a:pPr>
            <a:r>
              <a:rPr lang="en-US" sz="1000" b="1" dirty="0">
                <a:solidFill>
                  <a:srgbClr val="F9EEE7"/>
                </a:solidFill>
                <a:latin typeface="Quattrocento Bold" pitchFamily="34" charset="0"/>
                <a:ea typeface="Quattrocento Bold" pitchFamily="34" charset="-122"/>
                <a:cs typeface="Quattrocento Bold" pitchFamily="34" charset="-120"/>
              </a:rPr>
              <a:t>Tickets</a:t>
            </a:r>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 — designed for fast queries and flexible document structures.</a:t>
            </a:r>
            <a:endParaRPr lang="en-US" sz="1000" dirty="0"/>
          </a:p>
        </p:txBody>
      </p:sp>
      <p:sp>
        <p:nvSpPr>
          <p:cNvPr id="6" name="Shape 4"/>
          <p:cNvSpPr/>
          <p:nvPr/>
        </p:nvSpPr>
        <p:spPr>
          <a:xfrm>
            <a:off x="429295" y="2301850"/>
            <a:ext cx="4077295" cy="1985293"/>
          </a:xfrm>
          <a:prstGeom prst="roundRect">
            <a:avLst>
              <a:gd name="adj" fmla="val 989"/>
            </a:avLst>
          </a:prstGeom>
          <a:solidFill>
            <a:srgbClr val="EF9C82"/>
          </a:solidFill>
          <a:ln/>
        </p:spPr>
        <p:txBody>
          <a:bodyPr/>
          <a:p/>
        </p:txBody>
      </p:sp>
      <p:sp>
        <p:nvSpPr>
          <p:cNvPr id="7" name="Text 5"/>
          <p:cNvSpPr/>
          <p:nvPr/>
        </p:nvSpPr>
        <p:spPr>
          <a:xfrm>
            <a:off x="560189" y="2432745"/>
            <a:ext cx="1997273" cy="19250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Quattrocento" pitchFamily="34" charset="0"/>
                <a:ea typeface="Quattrocento" pitchFamily="34" charset="-122"/>
                <a:cs typeface="Quattrocento" pitchFamily="34" charset="-120"/>
              </a:rPr>
              <a:t>Users Collection</a:t>
            </a:r>
            <a:endParaRPr lang="en-US" sz="1200" dirty="0"/>
          </a:p>
        </p:txBody>
      </p:sp>
      <p:sp>
        <p:nvSpPr>
          <p:cNvPr id="8" name="Text 6"/>
          <p:cNvSpPr/>
          <p:nvPr/>
        </p:nvSpPr>
        <p:spPr>
          <a:xfrm>
            <a:off x="560189" y="2756148"/>
            <a:ext cx="3815507" cy="974899"/>
          </a:xfrm>
          <a:prstGeom prst="rect">
            <a:avLst/>
          </a:prstGeom>
          <a:noFill/>
          <a:ln/>
        </p:spPr>
        <p:txBody>
          <a:bodyPr wrap="square" lIns="0" tIns="0" rIns="0" bIns="0" rtlCol="0" anchor="t">
            <a:normAutofit/>
          </a:bodyPr>
          <a:lstStyle/>
          <a:p>
            <a:pPr algn="l" marL="203200" indent="-203200">
              <a:lnSpc>
                <a:spcPct val="133000"/>
              </a:lnSpc>
              <a:buSzPct val="100000"/>
              <a:buChar char="•"/>
            </a:pPr>
            <a:r>
              <a:rPr lang="en-US" sz="1000" b="1" dirty="0">
                <a:solidFill>
                  <a:srgbClr val="000000"/>
                </a:solidFill>
                <a:latin typeface="Quattrocento Bold" pitchFamily="34" charset="0"/>
                <a:ea typeface="Quattrocento Bold" pitchFamily="34" charset="-122"/>
                <a:cs typeface="Quattrocento Bold" pitchFamily="34" charset="-120"/>
              </a:rPr>
              <a:t>User ID</a:t>
            </a:r>
            <a:pPr algn="l" marL="203200" indent="-203200">
              <a:lnSpc>
                <a:spcPct val="133000"/>
              </a:lnSpc>
              <a:buSzPct val="100000"/>
              <a:buChar char="•"/>
            </a:pPr>
            <a:r>
              <a:rPr lang="en-US" sz="1000" dirty="0">
                <a:solidFill>
                  <a:srgbClr val="000000"/>
                </a:solidFill>
                <a:latin typeface="Quattrocento" pitchFamily="34" charset="0"/>
                <a:ea typeface="Quattrocento" pitchFamily="34" charset="-122"/>
                <a:cs typeface="Quattrocento" pitchFamily="34" charset="-120"/>
              </a:rPr>
              <a:t> — Unique identifier (auto-generated)</a:t>
            </a:r>
            <a:endParaRPr lang="en-US" sz="1000" dirty="0"/>
          </a:p>
          <a:p>
            <a:pPr algn="l" marL="203200" indent="-203200">
              <a:lnSpc>
                <a:spcPct val="133000"/>
              </a:lnSpc>
              <a:buSzPct val="100000"/>
              <a:buChar char="•"/>
            </a:pPr>
            <a:r>
              <a:rPr lang="en-US" sz="1000" b="1" dirty="0">
                <a:solidFill>
                  <a:srgbClr val="000000"/>
                </a:solidFill>
                <a:latin typeface="Quattrocento Bold" pitchFamily="34" charset="0"/>
                <a:ea typeface="Quattrocento Bold" pitchFamily="34" charset="-122"/>
                <a:cs typeface="Quattrocento Bold" pitchFamily="34" charset="-120"/>
              </a:rPr>
              <a:t>Name</a:t>
            </a:r>
            <a:pPr algn="l" marL="203200" indent="-203200">
              <a:lnSpc>
                <a:spcPct val="133000"/>
              </a:lnSpc>
              <a:buSzPct val="100000"/>
              <a:buChar char="•"/>
            </a:pPr>
            <a:r>
              <a:rPr lang="en-US" sz="1000" dirty="0">
                <a:solidFill>
                  <a:srgbClr val="000000"/>
                </a:solidFill>
                <a:latin typeface="Quattrocento" pitchFamily="34" charset="0"/>
                <a:ea typeface="Quattrocento" pitchFamily="34" charset="-122"/>
                <a:cs typeface="Quattrocento" pitchFamily="34" charset="-120"/>
              </a:rPr>
              <a:t> — Full name of the user</a:t>
            </a:r>
            <a:endParaRPr lang="en-US" sz="1000" dirty="0"/>
          </a:p>
          <a:p>
            <a:pPr algn="l" marL="203200" indent="-203200">
              <a:lnSpc>
                <a:spcPct val="133000"/>
              </a:lnSpc>
              <a:buSzPct val="100000"/>
              <a:buChar char="•"/>
            </a:pPr>
            <a:r>
              <a:rPr lang="en-US" sz="1000" b="1" dirty="0">
                <a:solidFill>
                  <a:srgbClr val="000000"/>
                </a:solidFill>
                <a:latin typeface="Quattrocento Bold" pitchFamily="34" charset="0"/>
                <a:ea typeface="Quattrocento Bold" pitchFamily="34" charset="-122"/>
                <a:cs typeface="Quattrocento Bold" pitchFamily="34" charset="-120"/>
              </a:rPr>
              <a:t>Email</a:t>
            </a:r>
            <a:pPr algn="l" marL="203200" indent="-203200">
              <a:lnSpc>
                <a:spcPct val="133000"/>
              </a:lnSpc>
              <a:buSzPct val="100000"/>
              <a:buChar char="•"/>
            </a:pPr>
            <a:r>
              <a:rPr lang="en-US" sz="1000" dirty="0">
                <a:solidFill>
                  <a:srgbClr val="000000"/>
                </a:solidFill>
                <a:latin typeface="Quattrocento" pitchFamily="34" charset="0"/>
                <a:ea typeface="Quattrocento" pitchFamily="34" charset="-122"/>
                <a:cs typeface="Quattrocento" pitchFamily="34" charset="-120"/>
              </a:rPr>
              <a:t> — Unique email for login and notifications</a:t>
            </a:r>
            <a:endParaRPr lang="en-US" sz="1000" dirty="0"/>
          </a:p>
          <a:p>
            <a:pPr algn="l" marL="203200" indent="-203200">
              <a:lnSpc>
                <a:spcPct val="133000"/>
              </a:lnSpc>
              <a:buSzPct val="100000"/>
              <a:buChar char="•"/>
            </a:pPr>
            <a:r>
              <a:rPr lang="en-US" sz="1000" b="1" dirty="0">
                <a:solidFill>
                  <a:srgbClr val="000000"/>
                </a:solidFill>
                <a:latin typeface="Quattrocento Bold" pitchFamily="34" charset="0"/>
                <a:ea typeface="Quattrocento Bold" pitchFamily="34" charset="-122"/>
                <a:cs typeface="Quattrocento Bold" pitchFamily="34" charset="-120"/>
              </a:rPr>
              <a:t>Password</a:t>
            </a:r>
            <a:pPr algn="l" marL="203200" indent="-203200">
              <a:lnSpc>
                <a:spcPct val="133000"/>
              </a:lnSpc>
              <a:buSzPct val="100000"/>
              <a:buChar char="•"/>
            </a:pPr>
            <a:r>
              <a:rPr lang="en-US" sz="1000" dirty="0">
                <a:solidFill>
                  <a:srgbClr val="000000"/>
                </a:solidFill>
                <a:latin typeface="Quattrocento" pitchFamily="34" charset="0"/>
                <a:ea typeface="Quattrocento" pitchFamily="34" charset="-122"/>
                <a:cs typeface="Quattrocento" pitchFamily="34" charset="-120"/>
              </a:rPr>
              <a:t> — Hashed credentials for secure authentication</a:t>
            </a:r>
            <a:endParaRPr lang="en-US" sz="1000" dirty="0"/>
          </a:p>
        </p:txBody>
      </p:sp>
      <p:sp>
        <p:nvSpPr>
          <p:cNvPr id="9" name="Text 7"/>
          <p:cNvSpPr/>
          <p:nvPr/>
        </p:nvSpPr>
        <p:spPr>
          <a:xfrm>
            <a:off x="4736455" y="2432745"/>
            <a:ext cx="1997273" cy="192509"/>
          </a:xfrm>
          <a:prstGeom prst="rect">
            <a:avLst/>
          </a:prstGeom>
          <a:noFill/>
          <a:ln/>
        </p:spPr>
        <p:txBody>
          <a:bodyPr wrap="none" lIns="0" tIns="0" rIns="0" bIns="0" rtlCol="0" anchor="t"/>
          <a:lstStyle/>
          <a:p>
            <a:pPr algn="l" indent="0" marL="0">
              <a:lnSpc>
                <a:spcPct val="104000"/>
              </a:lnSpc>
              <a:buNone/>
            </a:pPr>
            <a:r>
              <a:rPr lang="en-US" sz="1200" dirty="0">
                <a:solidFill>
                  <a:srgbClr val="FFD9BE"/>
                </a:solidFill>
                <a:latin typeface="Quattrocento" pitchFamily="34" charset="0"/>
                <a:ea typeface="Quattrocento" pitchFamily="34" charset="-122"/>
                <a:cs typeface="Quattrocento" pitchFamily="34" charset="-120"/>
              </a:rPr>
              <a:t>Tickets Collection</a:t>
            </a:r>
            <a:endParaRPr lang="en-US" sz="1200" dirty="0"/>
          </a:p>
        </p:txBody>
      </p:sp>
      <p:sp>
        <p:nvSpPr>
          <p:cNvPr id="10" name="Text 8"/>
          <p:cNvSpPr/>
          <p:nvPr/>
        </p:nvSpPr>
        <p:spPr>
          <a:xfrm>
            <a:off x="4736455" y="2756148"/>
            <a:ext cx="3888730" cy="1485230"/>
          </a:xfrm>
          <a:prstGeom prst="rect">
            <a:avLst/>
          </a:prstGeom>
          <a:noFill/>
          <a:ln/>
        </p:spPr>
        <p:txBody>
          <a:bodyPr wrap="square" lIns="0" tIns="0" rIns="0" bIns="0" rtlCol="0" anchor="t">
            <a:normAutofit/>
          </a:bodyPr>
          <a:lstStyle/>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Ticket ID</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Unique identifier for each ticket</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Title</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Brief subject line summarizing the issue</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Description</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Detailed explanation of the problem</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Priority</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Low / Medium / High classification</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Status</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Open / In Progress / Resolved</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Created Date</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Timestamp of ticket submission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23577" y="359941"/>
            <a:ext cx="703734" cy="101947"/>
          </a:xfrm>
          <a:prstGeom prst="roundRect">
            <a:avLst>
              <a:gd name="adj" fmla="val 7705"/>
            </a:avLst>
          </a:prstGeom>
          <a:noFill/>
          <a:ln/>
          <a:effectLst>
            <a:outerShdw sx="100000" sy="100000" kx="0" ky="0" algn="bl" rotWithShape="0" blurRad="101600" dist="50800" dir="16200000">
              <a:srgbClr val="ef9c82">
                <a:alpha val="100000"/>
              </a:srgbClr>
            </a:outerShdw>
          </a:effectLst>
        </p:spPr>
        <p:txBody>
          <a:bodyPr/>
          <a:p/>
        </p:txBody>
      </p:sp>
      <p:sp>
        <p:nvSpPr>
          <p:cNvPr id="3" name="Text 1"/>
          <p:cNvSpPr/>
          <p:nvPr/>
        </p:nvSpPr>
        <p:spPr>
          <a:xfrm>
            <a:off x="562794" y="379512"/>
            <a:ext cx="1082501" cy="62805"/>
          </a:xfrm>
          <a:prstGeom prst="rect">
            <a:avLst/>
          </a:prstGeom>
          <a:noFill/>
          <a:ln/>
        </p:spPr>
        <p:txBody>
          <a:bodyPr wrap="none" lIns="0" tIns="0" rIns="0" bIns="0" rtlCol="0" anchor="t"/>
          <a:lstStyle/>
          <a:p>
            <a:pPr algn="l" indent="0" marL="0">
              <a:lnSpc>
                <a:spcPct val="100000"/>
              </a:lnSpc>
              <a:buNone/>
            </a:pPr>
            <a:r>
              <a:rPr lang="en-US" sz="400" dirty="0">
                <a:solidFill>
                  <a:srgbClr val="EF9C82"/>
                </a:solidFill>
                <a:latin typeface="Quattrocento" pitchFamily="34" charset="0"/>
                <a:ea typeface="Quattrocento" pitchFamily="34" charset="-122"/>
                <a:cs typeface="Quattrocento" pitchFamily="34" charset="-120"/>
              </a:rPr>
              <a:t>MODULES &amp; WORKFLOW</a:t>
            </a:r>
            <a:endParaRPr lang="en-US" sz="400" dirty="0"/>
          </a:p>
        </p:txBody>
      </p:sp>
      <p:sp>
        <p:nvSpPr>
          <p:cNvPr id="4" name="Text 2"/>
          <p:cNvSpPr/>
          <p:nvPr/>
        </p:nvSpPr>
        <p:spPr>
          <a:xfrm>
            <a:off x="523577" y="474911"/>
            <a:ext cx="2759125" cy="192509"/>
          </a:xfrm>
          <a:prstGeom prst="rect">
            <a:avLst/>
          </a:prstGeom>
          <a:noFill/>
          <a:ln/>
        </p:spPr>
        <p:txBody>
          <a:bodyPr wrap="none" lIns="0" tIns="0" rIns="0" bIns="0" rtlCol="0" anchor="t"/>
          <a:lstStyle/>
          <a:p>
            <a:pPr algn="l" indent="0" marL="0">
              <a:lnSpc>
                <a:spcPct val="104000"/>
              </a:lnSpc>
              <a:buNone/>
            </a:pPr>
            <a:r>
              <a:rPr lang="en-US" sz="1200" dirty="0">
                <a:solidFill>
                  <a:srgbClr val="FFD9BE"/>
                </a:solidFill>
                <a:latin typeface="Quattrocento" pitchFamily="34" charset="0"/>
                <a:ea typeface="Quattrocento" pitchFamily="34" charset="-122"/>
                <a:cs typeface="Quattrocento" pitchFamily="34" charset="-120"/>
              </a:rPr>
              <a:t>Core Modules &amp; Ticket Workflow</a:t>
            </a:r>
            <a:endParaRPr lang="en-US" sz="1200" dirty="0"/>
          </a:p>
        </p:txBody>
      </p:sp>
      <p:sp>
        <p:nvSpPr>
          <p:cNvPr id="5" name="Text 3"/>
          <p:cNvSpPr/>
          <p:nvPr/>
        </p:nvSpPr>
        <p:spPr>
          <a:xfrm>
            <a:off x="523577" y="716459"/>
            <a:ext cx="8554045" cy="78581"/>
          </a:xfrm>
          <a:prstGeom prst="rect">
            <a:avLst/>
          </a:prstGeom>
          <a:noFill/>
          <a:ln/>
        </p:spPr>
        <p:txBody>
          <a:bodyPr wrap="none" lIns="0" tIns="0" rIns="0" bIns="0" rtlCol="0" anchor="t"/>
          <a:lstStyle/>
          <a:p>
            <a:pPr algn="l" indent="0" marL="0">
              <a:lnSpc>
                <a:spcPct val="100000"/>
              </a:lnSpc>
              <a:buNone/>
            </a:pPr>
            <a:r>
              <a:rPr lang="en-US" sz="500" dirty="0">
                <a:solidFill>
                  <a:srgbClr val="F9EEE7"/>
                </a:solidFill>
                <a:latin typeface="Quattrocento" pitchFamily="34" charset="0"/>
                <a:ea typeface="Quattrocento" pitchFamily="34" charset="-122"/>
                <a:cs typeface="Quattrocento" pitchFamily="34" charset="-120"/>
              </a:rPr>
              <a:t>The system is organized into six functional modules, each serving a distinct role in the user or admin experience. Together, they support a seamless end-to-end ticket lifecycle.</a:t>
            </a:r>
            <a:endParaRPr lang="en-US" sz="500" dirty="0"/>
          </a:p>
        </p:txBody>
      </p:sp>
      <p:sp>
        <p:nvSpPr>
          <p:cNvPr id="6" name="Text 4"/>
          <p:cNvSpPr/>
          <p:nvPr/>
        </p:nvSpPr>
        <p:spPr>
          <a:xfrm>
            <a:off x="523577" y="831800"/>
            <a:ext cx="130894" cy="81781"/>
          </a:xfrm>
          <a:prstGeom prst="rect">
            <a:avLst/>
          </a:prstGeom>
          <a:noFill/>
          <a:ln/>
        </p:spPr>
        <p:txBody>
          <a:bodyPr wrap="none" lIns="0" tIns="0" rIns="0" bIns="0" rtlCol="0" anchor="ctr"/>
          <a:lstStyle/>
          <a:p>
            <a:pPr algn="l" indent="0" marL="0">
              <a:lnSpc>
                <a:spcPct val="100000"/>
              </a:lnSpc>
              <a:buNone/>
            </a:pPr>
            <a:r>
              <a:rPr lang="en-US" sz="500" dirty="0">
                <a:solidFill>
                  <a:srgbClr val="F9EEE7"/>
                </a:solidFill>
                <a:latin typeface="Quattrocento Light" pitchFamily="34" charset="0"/>
                <a:ea typeface="Quattrocento Light" pitchFamily="34" charset="-122"/>
                <a:cs typeface="Quattrocento Light" pitchFamily="34" charset="-120"/>
              </a:rPr>
              <a:t>01</a:t>
            </a:r>
            <a:endParaRPr lang="en-US" sz="500" dirty="0"/>
          </a:p>
        </p:txBody>
      </p:sp>
      <p:sp>
        <p:nvSpPr>
          <p:cNvPr id="7" name="Shape 5"/>
          <p:cNvSpPr/>
          <p:nvPr/>
        </p:nvSpPr>
        <p:spPr>
          <a:xfrm>
            <a:off x="523577" y="933376"/>
            <a:ext cx="4032052" cy="9525"/>
          </a:xfrm>
          <a:prstGeom prst="rect">
            <a:avLst/>
          </a:prstGeom>
          <a:solidFill>
            <a:srgbClr val="EF9C82"/>
          </a:solidFill>
          <a:ln/>
        </p:spPr>
        <p:txBody>
          <a:bodyPr/>
          <a:p/>
        </p:txBody>
      </p:sp>
      <p:sp>
        <p:nvSpPr>
          <p:cNvPr id="8" name="Text 6"/>
          <p:cNvSpPr/>
          <p:nvPr/>
        </p:nvSpPr>
        <p:spPr>
          <a:xfrm>
            <a:off x="523577" y="985093"/>
            <a:ext cx="770037" cy="96217"/>
          </a:xfrm>
          <a:prstGeom prst="rect">
            <a:avLst/>
          </a:prstGeom>
          <a:noFill/>
          <a:ln/>
        </p:spPr>
        <p:txBody>
          <a:bodyPr wrap="none" lIns="0" tIns="0" rIns="0" bIns="0" rtlCol="0" anchor="t"/>
          <a:lstStyle/>
          <a:p>
            <a:pPr algn="l" indent="0" marL="0">
              <a:lnSpc>
                <a:spcPct val="104000"/>
              </a:lnSpc>
              <a:buNone/>
            </a:pPr>
            <a:r>
              <a:rPr lang="en-US" sz="600" dirty="0">
                <a:solidFill>
                  <a:srgbClr val="F9EEE7"/>
                </a:solidFill>
                <a:latin typeface="Quattrocento" pitchFamily="34" charset="0"/>
                <a:ea typeface="Quattrocento" pitchFamily="34" charset="-122"/>
                <a:cs typeface="Quattrocento" pitchFamily="34" charset="-120"/>
              </a:rPr>
              <a:t>User Authentication</a:t>
            </a:r>
            <a:endParaRPr lang="en-US" sz="600" dirty="0"/>
          </a:p>
        </p:txBody>
      </p:sp>
      <p:sp>
        <p:nvSpPr>
          <p:cNvPr id="9" name="Text 7"/>
          <p:cNvSpPr/>
          <p:nvPr/>
        </p:nvSpPr>
        <p:spPr>
          <a:xfrm>
            <a:off x="523577" y="1100882"/>
            <a:ext cx="4032052" cy="78581"/>
          </a:xfrm>
          <a:prstGeom prst="rect">
            <a:avLst/>
          </a:prstGeom>
          <a:noFill/>
          <a:ln/>
        </p:spPr>
        <p:txBody>
          <a:bodyPr wrap="none" lIns="0" tIns="0" rIns="0" bIns="0" rtlCol="0" anchor="t"/>
          <a:lstStyle/>
          <a:p>
            <a:pPr algn="l" indent="0" marL="0">
              <a:lnSpc>
                <a:spcPct val="100000"/>
              </a:lnSpc>
              <a:buNone/>
            </a:pPr>
            <a:r>
              <a:rPr lang="en-US" sz="500" dirty="0">
                <a:solidFill>
                  <a:srgbClr val="F9EEE7"/>
                </a:solidFill>
                <a:latin typeface="Quattrocento" pitchFamily="34" charset="0"/>
                <a:ea typeface="Quattrocento" pitchFamily="34" charset="-122"/>
                <a:cs typeface="Quattrocento" pitchFamily="34" charset="-120"/>
              </a:rPr>
              <a:t>Secure login and registration with session management.</a:t>
            </a:r>
            <a:endParaRPr lang="en-US" sz="500" dirty="0"/>
          </a:p>
        </p:txBody>
      </p:sp>
      <p:sp>
        <p:nvSpPr>
          <p:cNvPr id="10" name="Text 8"/>
          <p:cNvSpPr/>
          <p:nvPr/>
        </p:nvSpPr>
        <p:spPr>
          <a:xfrm>
            <a:off x="4588297" y="831800"/>
            <a:ext cx="130894" cy="81781"/>
          </a:xfrm>
          <a:prstGeom prst="rect">
            <a:avLst/>
          </a:prstGeom>
          <a:noFill/>
          <a:ln/>
        </p:spPr>
        <p:txBody>
          <a:bodyPr wrap="none" lIns="0" tIns="0" rIns="0" bIns="0" rtlCol="0" anchor="ctr"/>
          <a:lstStyle/>
          <a:p>
            <a:pPr algn="l" indent="0" marL="0">
              <a:lnSpc>
                <a:spcPct val="100000"/>
              </a:lnSpc>
              <a:buNone/>
            </a:pPr>
            <a:r>
              <a:rPr lang="en-US" sz="500" dirty="0">
                <a:solidFill>
                  <a:srgbClr val="F9EEE7"/>
                </a:solidFill>
                <a:latin typeface="Quattrocento Light" pitchFamily="34" charset="0"/>
                <a:ea typeface="Quattrocento Light" pitchFamily="34" charset="-122"/>
                <a:cs typeface="Quattrocento Light" pitchFamily="34" charset="-120"/>
              </a:rPr>
              <a:t>02</a:t>
            </a:r>
            <a:endParaRPr lang="en-US" sz="500" dirty="0"/>
          </a:p>
        </p:txBody>
      </p:sp>
      <p:sp>
        <p:nvSpPr>
          <p:cNvPr id="11" name="Shape 9"/>
          <p:cNvSpPr/>
          <p:nvPr/>
        </p:nvSpPr>
        <p:spPr>
          <a:xfrm>
            <a:off x="4588297" y="933376"/>
            <a:ext cx="4032126" cy="9525"/>
          </a:xfrm>
          <a:prstGeom prst="rect">
            <a:avLst/>
          </a:prstGeom>
          <a:solidFill>
            <a:srgbClr val="EF9C82"/>
          </a:solidFill>
          <a:ln/>
        </p:spPr>
        <p:txBody>
          <a:bodyPr/>
          <a:p/>
        </p:txBody>
      </p:sp>
      <p:sp>
        <p:nvSpPr>
          <p:cNvPr id="12" name="Text 10"/>
          <p:cNvSpPr/>
          <p:nvPr/>
        </p:nvSpPr>
        <p:spPr>
          <a:xfrm>
            <a:off x="4588297" y="985093"/>
            <a:ext cx="770037" cy="96217"/>
          </a:xfrm>
          <a:prstGeom prst="rect">
            <a:avLst/>
          </a:prstGeom>
          <a:noFill/>
          <a:ln/>
        </p:spPr>
        <p:txBody>
          <a:bodyPr wrap="none" lIns="0" tIns="0" rIns="0" bIns="0" rtlCol="0" anchor="t"/>
          <a:lstStyle/>
          <a:p>
            <a:pPr algn="l" indent="0" marL="0">
              <a:lnSpc>
                <a:spcPct val="104000"/>
              </a:lnSpc>
              <a:buNone/>
            </a:pPr>
            <a:r>
              <a:rPr lang="en-US" sz="600" dirty="0">
                <a:solidFill>
                  <a:srgbClr val="F9EEE7"/>
                </a:solidFill>
                <a:latin typeface="Quattrocento" pitchFamily="34" charset="0"/>
                <a:ea typeface="Quattrocento" pitchFamily="34" charset="-122"/>
                <a:cs typeface="Quattrocento" pitchFamily="34" charset="-120"/>
              </a:rPr>
              <a:t>Create Ticket</a:t>
            </a:r>
            <a:endParaRPr lang="en-US" sz="600" dirty="0"/>
          </a:p>
        </p:txBody>
      </p:sp>
      <p:sp>
        <p:nvSpPr>
          <p:cNvPr id="13" name="Text 11"/>
          <p:cNvSpPr/>
          <p:nvPr/>
        </p:nvSpPr>
        <p:spPr>
          <a:xfrm>
            <a:off x="4588297" y="1100882"/>
            <a:ext cx="4032126" cy="78581"/>
          </a:xfrm>
          <a:prstGeom prst="rect">
            <a:avLst/>
          </a:prstGeom>
          <a:noFill/>
          <a:ln/>
        </p:spPr>
        <p:txBody>
          <a:bodyPr wrap="none" lIns="0" tIns="0" rIns="0" bIns="0" rtlCol="0" anchor="t"/>
          <a:lstStyle/>
          <a:p>
            <a:pPr algn="l" indent="0" marL="0">
              <a:lnSpc>
                <a:spcPct val="100000"/>
              </a:lnSpc>
              <a:buNone/>
            </a:pPr>
            <a:r>
              <a:rPr lang="en-US" sz="500" dirty="0">
                <a:solidFill>
                  <a:srgbClr val="F9EEE7"/>
                </a:solidFill>
                <a:latin typeface="Quattrocento" pitchFamily="34" charset="0"/>
                <a:ea typeface="Quattrocento" pitchFamily="34" charset="-122"/>
                <a:cs typeface="Quattrocento" pitchFamily="34" charset="-120"/>
              </a:rPr>
              <a:t>Users submit tickets with title, description, and priority.</a:t>
            </a:r>
            <a:endParaRPr lang="en-US" sz="500" dirty="0"/>
          </a:p>
        </p:txBody>
      </p:sp>
      <p:sp>
        <p:nvSpPr>
          <p:cNvPr id="14" name="Text 12"/>
          <p:cNvSpPr/>
          <p:nvPr/>
        </p:nvSpPr>
        <p:spPr>
          <a:xfrm>
            <a:off x="523577" y="1261170"/>
            <a:ext cx="130894" cy="81781"/>
          </a:xfrm>
          <a:prstGeom prst="rect">
            <a:avLst/>
          </a:prstGeom>
          <a:noFill/>
          <a:ln/>
        </p:spPr>
        <p:txBody>
          <a:bodyPr wrap="none" lIns="0" tIns="0" rIns="0" bIns="0" rtlCol="0" anchor="ctr"/>
          <a:lstStyle/>
          <a:p>
            <a:pPr algn="l" indent="0" marL="0">
              <a:lnSpc>
                <a:spcPct val="100000"/>
              </a:lnSpc>
              <a:buNone/>
            </a:pPr>
            <a:r>
              <a:rPr lang="en-US" sz="500" dirty="0">
                <a:solidFill>
                  <a:srgbClr val="F9EEE7"/>
                </a:solidFill>
                <a:latin typeface="Quattrocento Light" pitchFamily="34" charset="0"/>
                <a:ea typeface="Quattrocento Light" pitchFamily="34" charset="-122"/>
                <a:cs typeface="Quattrocento Light" pitchFamily="34" charset="-120"/>
              </a:rPr>
              <a:t>03</a:t>
            </a:r>
            <a:endParaRPr lang="en-US" sz="500" dirty="0"/>
          </a:p>
        </p:txBody>
      </p:sp>
      <p:sp>
        <p:nvSpPr>
          <p:cNvPr id="15" name="Shape 13"/>
          <p:cNvSpPr/>
          <p:nvPr/>
        </p:nvSpPr>
        <p:spPr>
          <a:xfrm>
            <a:off x="523577" y="1362745"/>
            <a:ext cx="4032052" cy="9525"/>
          </a:xfrm>
          <a:prstGeom prst="rect">
            <a:avLst/>
          </a:prstGeom>
          <a:solidFill>
            <a:srgbClr val="EF9C82"/>
          </a:solidFill>
          <a:ln/>
        </p:spPr>
        <p:txBody>
          <a:bodyPr/>
          <a:p/>
        </p:txBody>
      </p:sp>
      <p:sp>
        <p:nvSpPr>
          <p:cNvPr id="16" name="Text 14"/>
          <p:cNvSpPr/>
          <p:nvPr/>
        </p:nvSpPr>
        <p:spPr>
          <a:xfrm>
            <a:off x="523577" y="1414463"/>
            <a:ext cx="770037" cy="96217"/>
          </a:xfrm>
          <a:prstGeom prst="rect">
            <a:avLst/>
          </a:prstGeom>
          <a:noFill/>
          <a:ln/>
        </p:spPr>
        <p:txBody>
          <a:bodyPr wrap="none" lIns="0" tIns="0" rIns="0" bIns="0" rtlCol="0" anchor="t"/>
          <a:lstStyle/>
          <a:p>
            <a:pPr algn="l" indent="0" marL="0">
              <a:lnSpc>
                <a:spcPct val="104000"/>
              </a:lnSpc>
              <a:buNone/>
            </a:pPr>
            <a:r>
              <a:rPr lang="en-US" sz="600" dirty="0">
                <a:solidFill>
                  <a:srgbClr val="F9EEE7"/>
                </a:solidFill>
                <a:latin typeface="Quattrocento" pitchFamily="34" charset="0"/>
                <a:ea typeface="Quattrocento" pitchFamily="34" charset="-122"/>
                <a:cs typeface="Quattrocento" pitchFamily="34" charset="-120"/>
              </a:rPr>
              <a:t>My Tickets</a:t>
            </a:r>
            <a:endParaRPr lang="en-US" sz="600" dirty="0"/>
          </a:p>
        </p:txBody>
      </p:sp>
      <p:sp>
        <p:nvSpPr>
          <p:cNvPr id="17" name="Text 15"/>
          <p:cNvSpPr/>
          <p:nvPr/>
        </p:nvSpPr>
        <p:spPr>
          <a:xfrm>
            <a:off x="523577" y="1530251"/>
            <a:ext cx="4032052" cy="78581"/>
          </a:xfrm>
          <a:prstGeom prst="rect">
            <a:avLst/>
          </a:prstGeom>
          <a:noFill/>
          <a:ln/>
        </p:spPr>
        <p:txBody>
          <a:bodyPr wrap="none" lIns="0" tIns="0" rIns="0" bIns="0" rtlCol="0" anchor="t"/>
          <a:lstStyle/>
          <a:p>
            <a:pPr algn="l" indent="0" marL="0">
              <a:lnSpc>
                <a:spcPct val="100000"/>
              </a:lnSpc>
              <a:buNone/>
            </a:pPr>
            <a:r>
              <a:rPr lang="en-US" sz="500" dirty="0">
                <a:solidFill>
                  <a:srgbClr val="F9EEE7"/>
                </a:solidFill>
                <a:latin typeface="Quattrocento" pitchFamily="34" charset="0"/>
                <a:ea typeface="Quattrocento" pitchFamily="34" charset="-122"/>
                <a:cs typeface="Quattrocento" pitchFamily="34" charset="-120"/>
              </a:rPr>
              <a:t>Personalized view of all tickets submitted by the user.</a:t>
            </a:r>
            <a:endParaRPr lang="en-US" sz="500" dirty="0"/>
          </a:p>
        </p:txBody>
      </p:sp>
      <p:sp>
        <p:nvSpPr>
          <p:cNvPr id="18" name="Text 16"/>
          <p:cNvSpPr/>
          <p:nvPr/>
        </p:nvSpPr>
        <p:spPr>
          <a:xfrm>
            <a:off x="4588297" y="1261170"/>
            <a:ext cx="130894" cy="81781"/>
          </a:xfrm>
          <a:prstGeom prst="rect">
            <a:avLst/>
          </a:prstGeom>
          <a:noFill/>
          <a:ln/>
        </p:spPr>
        <p:txBody>
          <a:bodyPr wrap="none" lIns="0" tIns="0" rIns="0" bIns="0" rtlCol="0" anchor="ctr"/>
          <a:lstStyle/>
          <a:p>
            <a:pPr algn="l" indent="0" marL="0">
              <a:lnSpc>
                <a:spcPct val="100000"/>
              </a:lnSpc>
              <a:buNone/>
            </a:pPr>
            <a:r>
              <a:rPr lang="en-US" sz="500" dirty="0">
                <a:solidFill>
                  <a:srgbClr val="F9EEE7"/>
                </a:solidFill>
                <a:latin typeface="Quattrocento Light" pitchFamily="34" charset="0"/>
                <a:ea typeface="Quattrocento Light" pitchFamily="34" charset="-122"/>
                <a:cs typeface="Quattrocento Light" pitchFamily="34" charset="-120"/>
              </a:rPr>
              <a:t>04</a:t>
            </a:r>
            <a:endParaRPr lang="en-US" sz="500" dirty="0"/>
          </a:p>
        </p:txBody>
      </p:sp>
      <p:sp>
        <p:nvSpPr>
          <p:cNvPr id="19" name="Shape 17"/>
          <p:cNvSpPr/>
          <p:nvPr/>
        </p:nvSpPr>
        <p:spPr>
          <a:xfrm>
            <a:off x="4588297" y="1362745"/>
            <a:ext cx="4032126" cy="9525"/>
          </a:xfrm>
          <a:prstGeom prst="rect">
            <a:avLst/>
          </a:prstGeom>
          <a:solidFill>
            <a:srgbClr val="EF9C82"/>
          </a:solidFill>
          <a:ln/>
        </p:spPr>
        <p:txBody>
          <a:bodyPr/>
          <a:p/>
        </p:txBody>
      </p:sp>
      <p:sp>
        <p:nvSpPr>
          <p:cNvPr id="20" name="Text 18"/>
          <p:cNvSpPr/>
          <p:nvPr/>
        </p:nvSpPr>
        <p:spPr>
          <a:xfrm>
            <a:off x="4588297" y="1414463"/>
            <a:ext cx="770037" cy="96217"/>
          </a:xfrm>
          <a:prstGeom prst="rect">
            <a:avLst/>
          </a:prstGeom>
          <a:noFill/>
          <a:ln/>
        </p:spPr>
        <p:txBody>
          <a:bodyPr wrap="none" lIns="0" tIns="0" rIns="0" bIns="0" rtlCol="0" anchor="t"/>
          <a:lstStyle/>
          <a:p>
            <a:pPr algn="l" indent="0" marL="0">
              <a:lnSpc>
                <a:spcPct val="104000"/>
              </a:lnSpc>
              <a:buNone/>
            </a:pPr>
            <a:r>
              <a:rPr lang="en-US" sz="600" dirty="0">
                <a:solidFill>
                  <a:srgbClr val="F9EEE7"/>
                </a:solidFill>
                <a:latin typeface="Quattrocento" pitchFamily="34" charset="0"/>
                <a:ea typeface="Quattrocento" pitchFamily="34" charset="-122"/>
                <a:cs typeface="Quattrocento" pitchFamily="34" charset="-120"/>
              </a:rPr>
              <a:t>Ticket Details</a:t>
            </a:r>
            <a:endParaRPr lang="en-US" sz="600" dirty="0"/>
          </a:p>
        </p:txBody>
      </p:sp>
      <p:sp>
        <p:nvSpPr>
          <p:cNvPr id="21" name="Text 19"/>
          <p:cNvSpPr/>
          <p:nvPr/>
        </p:nvSpPr>
        <p:spPr>
          <a:xfrm>
            <a:off x="4588297" y="1530251"/>
            <a:ext cx="4032126" cy="78581"/>
          </a:xfrm>
          <a:prstGeom prst="rect">
            <a:avLst/>
          </a:prstGeom>
          <a:noFill/>
          <a:ln/>
        </p:spPr>
        <p:txBody>
          <a:bodyPr wrap="none" lIns="0" tIns="0" rIns="0" bIns="0" rtlCol="0" anchor="t"/>
          <a:lstStyle/>
          <a:p>
            <a:pPr algn="l" indent="0" marL="0">
              <a:lnSpc>
                <a:spcPct val="100000"/>
              </a:lnSpc>
              <a:buNone/>
            </a:pPr>
            <a:r>
              <a:rPr lang="en-US" sz="500" dirty="0">
                <a:solidFill>
                  <a:srgbClr val="F9EEE7"/>
                </a:solidFill>
                <a:latin typeface="Quattrocento" pitchFamily="34" charset="0"/>
                <a:ea typeface="Quattrocento" pitchFamily="34" charset="-122"/>
                <a:cs typeface="Quattrocento" pitchFamily="34" charset="-120"/>
              </a:rPr>
              <a:t>Full ticket view with status, priority, and history.</a:t>
            </a:r>
            <a:endParaRPr lang="en-US" sz="500" dirty="0"/>
          </a:p>
        </p:txBody>
      </p:sp>
      <p:sp>
        <p:nvSpPr>
          <p:cNvPr id="22" name="Text 20"/>
          <p:cNvSpPr/>
          <p:nvPr/>
        </p:nvSpPr>
        <p:spPr>
          <a:xfrm>
            <a:off x="523577" y="1690539"/>
            <a:ext cx="130894" cy="81781"/>
          </a:xfrm>
          <a:prstGeom prst="rect">
            <a:avLst/>
          </a:prstGeom>
          <a:noFill/>
          <a:ln/>
        </p:spPr>
        <p:txBody>
          <a:bodyPr wrap="none" lIns="0" tIns="0" rIns="0" bIns="0" rtlCol="0" anchor="ctr"/>
          <a:lstStyle/>
          <a:p>
            <a:pPr algn="l" indent="0" marL="0">
              <a:lnSpc>
                <a:spcPct val="100000"/>
              </a:lnSpc>
              <a:buNone/>
            </a:pPr>
            <a:r>
              <a:rPr lang="en-US" sz="500" dirty="0">
                <a:solidFill>
                  <a:srgbClr val="F9EEE7"/>
                </a:solidFill>
                <a:latin typeface="Quattrocento Light" pitchFamily="34" charset="0"/>
                <a:ea typeface="Quattrocento Light" pitchFamily="34" charset="-122"/>
                <a:cs typeface="Quattrocento Light" pitchFamily="34" charset="-120"/>
              </a:rPr>
              <a:t>05</a:t>
            </a:r>
            <a:endParaRPr lang="en-US" sz="500" dirty="0"/>
          </a:p>
        </p:txBody>
      </p:sp>
      <p:sp>
        <p:nvSpPr>
          <p:cNvPr id="23" name="Shape 21"/>
          <p:cNvSpPr/>
          <p:nvPr/>
        </p:nvSpPr>
        <p:spPr>
          <a:xfrm>
            <a:off x="523577" y="1792114"/>
            <a:ext cx="4032052" cy="9525"/>
          </a:xfrm>
          <a:prstGeom prst="rect">
            <a:avLst/>
          </a:prstGeom>
          <a:solidFill>
            <a:srgbClr val="EF9C82"/>
          </a:solidFill>
          <a:ln/>
        </p:spPr>
        <p:txBody>
          <a:bodyPr/>
          <a:p/>
        </p:txBody>
      </p:sp>
      <p:sp>
        <p:nvSpPr>
          <p:cNvPr id="24" name="Text 22"/>
          <p:cNvSpPr/>
          <p:nvPr/>
        </p:nvSpPr>
        <p:spPr>
          <a:xfrm>
            <a:off x="523577" y="1843832"/>
            <a:ext cx="770037" cy="96217"/>
          </a:xfrm>
          <a:prstGeom prst="rect">
            <a:avLst/>
          </a:prstGeom>
          <a:noFill/>
          <a:ln/>
        </p:spPr>
        <p:txBody>
          <a:bodyPr wrap="none" lIns="0" tIns="0" rIns="0" bIns="0" rtlCol="0" anchor="t"/>
          <a:lstStyle/>
          <a:p>
            <a:pPr algn="l" indent="0" marL="0">
              <a:lnSpc>
                <a:spcPct val="104000"/>
              </a:lnSpc>
              <a:buNone/>
            </a:pPr>
            <a:r>
              <a:rPr lang="en-US" sz="600" dirty="0">
                <a:solidFill>
                  <a:srgbClr val="F9EEE7"/>
                </a:solidFill>
                <a:latin typeface="Quattrocento" pitchFamily="34" charset="0"/>
                <a:ea typeface="Quattrocento" pitchFamily="34" charset="-122"/>
                <a:cs typeface="Quattrocento" pitchFamily="34" charset="-120"/>
              </a:rPr>
              <a:t>Admin Dashboard</a:t>
            </a:r>
            <a:endParaRPr lang="en-US" sz="600" dirty="0"/>
          </a:p>
        </p:txBody>
      </p:sp>
      <p:sp>
        <p:nvSpPr>
          <p:cNvPr id="25" name="Text 23"/>
          <p:cNvSpPr/>
          <p:nvPr/>
        </p:nvSpPr>
        <p:spPr>
          <a:xfrm>
            <a:off x="523577" y="1959620"/>
            <a:ext cx="4032052" cy="78581"/>
          </a:xfrm>
          <a:prstGeom prst="rect">
            <a:avLst/>
          </a:prstGeom>
          <a:noFill/>
          <a:ln/>
        </p:spPr>
        <p:txBody>
          <a:bodyPr wrap="none" lIns="0" tIns="0" rIns="0" bIns="0" rtlCol="0" anchor="t"/>
          <a:lstStyle/>
          <a:p>
            <a:pPr algn="l" indent="0" marL="0">
              <a:lnSpc>
                <a:spcPct val="100000"/>
              </a:lnSpc>
              <a:buNone/>
            </a:pPr>
            <a:r>
              <a:rPr lang="en-US" sz="500" dirty="0">
                <a:solidFill>
                  <a:srgbClr val="F9EEE7"/>
                </a:solidFill>
                <a:latin typeface="Quattrocento" pitchFamily="34" charset="0"/>
                <a:ea typeface="Quattrocento" pitchFamily="34" charset="-122"/>
                <a:cs typeface="Quattrocento" pitchFamily="34" charset="-120"/>
              </a:rPr>
              <a:t>Centralized panel for admins to oversee all tickets.</a:t>
            </a:r>
            <a:endParaRPr lang="en-US" sz="500" dirty="0"/>
          </a:p>
        </p:txBody>
      </p:sp>
      <p:sp>
        <p:nvSpPr>
          <p:cNvPr id="26" name="Text 24"/>
          <p:cNvSpPr/>
          <p:nvPr/>
        </p:nvSpPr>
        <p:spPr>
          <a:xfrm>
            <a:off x="4588297" y="1690539"/>
            <a:ext cx="130894" cy="81781"/>
          </a:xfrm>
          <a:prstGeom prst="rect">
            <a:avLst/>
          </a:prstGeom>
          <a:noFill/>
          <a:ln/>
        </p:spPr>
        <p:txBody>
          <a:bodyPr wrap="none" lIns="0" tIns="0" rIns="0" bIns="0" rtlCol="0" anchor="ctr"/>
          <a:lstStyle/>
          <a:p>
            <a:pPr algn="l" indent="0" marL="0">
              <a:lnSpc>
                <a:spcPct val="100000"/>
              </a:lnSpc>
              <a:buNone/>
            </a:pPr>
            <a:r>
              <a:rPr lang="en-US" sz="500" dirty="0">
                <a:solidFill>
                  <a:srgbClr val="F9EEE7"/>
                </a:solidFill>
                <a:latin typeface="Quattrocento Light" pitchFamily="34" charset="0"/>
                <a:ea typeface="Quattrocento Light" pitchFamily="34" charset="-122"/>
                <a:cs typeface="Quattrocento Light" pitchFamily="34" charset="-120"/>
              </a:rPr>
              <a:t>06</a:t>
            </a:r>
            <a:endParaRPr lang="en-US" sz="500" dirty="0"/>
          </a:p>
        </p:txBody>
      </p:sp>
      <p:sp>
        <p:nvSpPr>
          <p:cNvPr id="27" name="Shape 25"/>
          <p:cNvSpPr/>
          <p:nvPr/>
        </p:nvSpPr>
        <p:spPr>
          <a:xfrm>
            <a:off x="4588297" y="1792114"/>
            <a:ext cx="4032126" cy="9525"/>
          </a:xfrm>
          <a:prstGeom prst="rect">
            <a:avLst/>
          </a:prstGeom>
          <a:solidFill>
            <a:srgbClr val="EF9C82"/>
          </a:solidFill>
          <a:ln/>
        </p:spPr>
        <p:txBody>
          <a:bodyPr/>
          <a:p/>
        </p:txBody>
      </p:sp>
      <p:sp>
        <p:nvSpPr>
          <p:cNvPr id="28" name="Text 26"/>
          <p:cNvSpPr/>
          <p:nvPr/>
        </p:nvSpPr>
        <p:spPr>
          <a:xfrm>
            <a:off x="4588297" y="1843832"/>
            <a:ext cx="770037" cy="96217"/>
          </a:xfrm>
          <a:prstGeom prst="rect">
            <a:avLst/>
          </a:prstGeom>
          <a:noFill/>
          <a:ln/>
        </p:spPr>
        <p:txBody>
          <a:bodyPr wrap="none" lIns="0" tIns="0" rIns="0" bIns="0" rtlCol="0" anchor="t"/>
          <a:lstStyle/>
          <a:p>
            <a:pPr algn="l" indent="0" marL="0">
              <a:lnSpc>
                <a:spcPct val="104000"/>
              </a:lnSpc>
              <a:buNone/>
            </a:pPr>
            <a:r>
              <a:rPr lang="en-US" sz="600" dirty="0">
                <a:solidFill>
                  <a:srgbClr val="F9EEE7"/>
                </a:solidFill>
                <a:latin typeface="Quattrocento" pitchFamily="34" charset="0"/>
                <a:ea typeface="Quattrocento" pitchFamily="34" charset="-122"/>
                <a:cs typeface="Quattrocento" pitchFamily="34" charset="-120"/>
              </a:rPr>
              <a:t>Ticket Management</a:t>
            </a:r>
            <a:endParaRPr lang="en-US" sz="600" dirty="0"/>
          </a:p>
        </p:txBody>
      </p:sp>
      <p:sp>
        <p:nvSpPr>
          <p:cNvPr id="29" name="Text 27"/>
          <p:cNvSpPr/>
          <p:nvPr/>
        </p:nvSpPr>
        <p:spPr>
          <a:xfrm>
            <a:off x="4588297" y="1959620"/>
            <a:ext cx="4032126" cy="78581"/>
          </a:xfrm>
          <a:prstGeom prst="rect">
            <a:avLst/>
          </a:prstGeom>
          <a:noFill/>
          <a:ln/>
        </p:spPr>
        <p:txBody>
          <a:bodyPr wrap="none" lIns="0" tIns="0" rIns="0" bIns="0" rtlCol="0" anchor="t"/>
          <a:lstStyle/>
          <a:p>
            <a:pPr algn="l" indent="0" marL="0">
              <a:lnSpc>
                <a:spcPct val="100000"/>
              </a:lnSpc>
              <a:buNone/>
            </a:pPr>
            <a:r>
              <a:rPr lang="en-US" sz="500" dirty="0">
                <a:solidFill>
                  <a:srgbClr val="F9EEE7"/>
                </a:solidFill>
                <a:latin typeface="Quattrocento" pitchFamily="34" charset="0"/>
                <a:ea typeface="Quattrocento" pitchFamily="34" charset="-122"/>
                <a:cs typeface="Quattrocento" pitchFamily="34" charset="-120"/>
              </a:rPr>
              <a:t>Admins update status, assign priority, and resolve issues.</a:t>
            </a:r>
            <a:endParaRPr lang="en-US" sz="500" dirty="0"/>
          </a:p>
        </p:txBody>
      </p:sp>
      <p:pic>
        <p:nvPicPr>
          <p:cNvPr id="30" name="Image 0" descr="preencoded.png">    </p:cNvPr>
          <p:cNvPicPr>
            <a:picLocks noChangeAspect="1"/>
          </p:cNvPicPr>
          <p:nvPr/>
        </p:nvPicPr>
        <p:blipFill>
          <a:blip r:embed="rId1"/>
          <a:stretch>
            <a:fillRect/>
          </a:stretch>
        </p:blipFill>
        <p:spPr>
          <a:xfrm>
            <a:off x="653207" y="2124001"/>
            <a:ext cx="7837512" cy="2940993"/>
          </a:xfrm>
          <a:prstGeom prst="rect">
            <a:avLst/>
          </a:prstGeom>
        </p:spPr>
      </p:pic>
      <p:sp>
        <p:nvSpPr>
          <p:cNvPr id="31" name="Text 28"/>
          <p:cNvSpPr/>
          <p:nvPr/>
        </p:nvSpPr>
        <p:spPr>
          <a:xfrm>
            <a:off x="6985840" y="4357745"/>
            <a:ext cx="1182130" cy="214185"/>
          </a:xfrm>
          <a:prstGeom prst="rect">
            <a:avLst/>
          </a:prstGeom>
          <a:noFill/>
          <a:ln/>
        </p:spPr>
        <p:txBody>
          <a:bodyPr wrap="none" lIns="0" tIns="0" rIns="0" bIns="0" rtlCol="0" anchor="t"/>
          <a:lstStyle/>
          <a:p>
            <a:pPr algn="ctr"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Status Updated</a:t>
            </a:r>
            <a:endParaRPr lang="en-US" sz="1350" dirty="0"/>
          </a:p>
        </p:txBody>
      </p:sp>
      <p:sp>
        <p:nvSpPr>
          <p:cNvPr id="32" name="Text 29"/>
          <p:cNvSpPr/>
          <p:nvPr/>
        </p:nvSpPr>
        <p:spPr>
          <a:xfrm>
            <a:off x="5496033" y="4357745"/>
            <a:ext cx="1182130" cy="214185"/>
          </a:xfrm>
          <a:prstGeom prst="rect">
            <a:avLst/>
          </a:prstGeom>
          <a:noFill/>
          <a:ln/>
        </p:spPr>
        <p:txBody>
          <a:bodyPr wrap="none" lIns="0" tIns="0" rIns="0" bIns="0" rtlCol="0" anchor="t"/>
          <a:lstStyle/>
          <a:p>
            <a:pPr algn="ctr"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Admin Review</a:t>
            </a:r>
            <a:endParaRPr lang="en-US" sz="1350" dirty="0"/>
          </a:p>
        </p:txBody>
      </p:sp>
      <p:sp>
        <p:nvSpPr>
          <p:cNvPr id="33" name="Text 30"/>
          <p:cNvSpPr/>
          <p:nvPr/>
        </p:nvSpPr>
        <p:spPr>
          <a:xfrm>
            <a:off x="4014321" y="4250716"/>
            <a:ext cx="1182130" cy="428370"/>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Store in MongoDB</a:t>
            </a:r>
            <a:endParaRPr lang="en-US" sz="1350" dirty="0"/>
          </a:p>
        </p:txBody>
      </p:sp>
      <p:sp>
        <p:nvSpPr>
          <p:cNvPr id="34" name="Text 31"/>
          <p:cNvSpPr/>
          <p:nvPr/>
        </p:nvSpPr>
        <p:spPr>
          <a:xfrm>
            <a:off x="2532610" y="4357745"/>
            <a:ext cx="1182130" cy="214185"/>
          </a:xfrm>
          <a:prstGeom prst="rect">
            <a:avLst/>
          </a:prstGeom>
          <a:noFill/>
          <a:ln/>
        </p:spPr>
        <p:txBody>
          <a:bodyPr wrap="none" lIns="0" tIns="0" rIns="0" bIns="0" rtlCol="0" anchor="t"/>
          <a:lstStyle/>
          <a:p>
            <a:pPr algn="ctr"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Create Ticket</a:t>
            </a:r>
            <a:endParaRPr lang="en-US" sz="1350" dirty="0"/>
          </a:p>
        </p:txBody>
      </p:sp>
      <p:sp>
        <p:nvSpPr>
          <p:cNvPr id="35" name="Text 32"/>
          <p:cNvSpPr/>
          <p:nvPr/>
        </p:nvSpPr>
        <p:spPr>
          <a:xfrm>
            <a:off x="1018512" y="4357745"/>
            <a:ext cx="1182130" cy="214185"/>
          </a:xfrm>
          <a:prstGeom prst="rect">
            <a:avLst/>
          </a:prstGeom>
          <a:noFill/>
          <a:ln/>
        </p:spPr>
        <p:txBody>
          <a:bodyPr wrap="none" lIns="0" tIns="0" rIns="0" bIns="0" rtlCol="0" anchor="t"/>
          <a:lstStyle/>
          <a:p>
            <a:pPr algn="ctr"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User Login</a:t>
            </a:r>
            <a:endParaRPr lang="en-US" sz="1350" dirty="0"/>
          </a:p>
        </p:txBody>
      </p:sp>
      <p:sp>
        <p:nvSpPr>
          <p:cNvPr id="36" name="Text 33"/>
          <p:cNvSpPr/>
          <p:nvPr/>
        </p:nvSpPr>
        <p:spPr>
          <a:xfrm>
            <a:off x="523577" y="5101754"/>
            <a:ext cx="8554045" cy="78581"/>
          </a:xfrm>
          <a:prstGeom prst="rect">
            <a:avLst/>
          </a:prstGeom>
          <a:noFill/>
          <a:ln/>
        </p:spPr>
        <p:txBody>
          <a:bodyPr wrap="none" lIns="0" tIns="0" rIns="0" bIns="0" rtlCol="0" anchor="t"/>
          <a:lstStyle/>
          <a:p>
            <a:pPr algn="l" indent="0" marL="0">
              <a:lnSpc>
                <a:spcPct val="100000"/>
              </a:lnSpc>
              <a:buNone/>
            </a:pPr>
            <a:r>
              <a:rPr lang="en-US" sz="500" dirty="0">
                <a:solidFill>
                  <a:srgbClr val="F9EEE7"/>
                </a:solidFill>
                <a:latin typeface="Quattrocento" pitchFamily="34" charset="0"/>
                <a:ea typeface="Quattrocento" pitchFamily="34" charset="-122"/>
                <a:cs typeface="Quattrocento" pitchFamily="34" charset="-120"/>
              </a:rPr>
              <a:t>Once a user logs in and submits a ticket, it is immediately persisted in MongoDB. Admins are notified, review the ticket, update its status, and mark it resolved — completing a transparent, auditable workflow.</a:t>
            </a:r>
            <a:endParaRPr lang="en-US" sz="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23577" y="364778"/>
            <a:ext cx="1278210" cy="205978"/>
          </a:xfrm>
          <a:prstGeom prst="roundRect">
            <a:avLst>
              <a:gd name="adj" fmla="val 6673"/>
            </a:avLst>
          </a:prstGeom>
          <a:noFill/>
          <a:ln/>
          <a:effectLst>
            <a:outerShdw sx="100000" sy="100000" kx="0" ky="0" algn="bl" rotWithShape="0" blurRad="101600" dist="50800" dir="16200000">
              <a:srgbClr val="ef9c82">
                <a:alpha val="100000"/>
              </a:srgbClr>
            </a:outerShdw>
          </a:effectLst>
        </p:spPr>
        <p:txBody>
          <a:bodyPr/>
          <a:p/>
        </p:txBody>
      </p:sp>
      <p:sp>
        <p:nvSpPr>
          <p:cNvPr id="3" name="Text 1"/>
          <p:cNvSpPr/>
          <p:nvPr/>
        </p:nvSpPr>
        <p:spPr>
          <a:xfrm>
            <a:off x="592262" y="399083"/>
            <a:ext cx="1598042" cy="137368"/>
          </a:xfrm>
          <a:prstGeom prst="rect">
            <a:avLst/>
          </a:prstGeom>
          <a:noFill/>
          <a:ln/>
        </p:spPr>
        <p:txBody>
          <a:bodyPr wrap="none" lIns="0" tIns="0" rIns="0" bIns="0" rtlCol="0" anchor="t"/>
          <a:lstStyle/>
          <a:p>
            <a:pPr algn="l" indent="0" marL="0">
              <a:lnSpc>
                <a:spcPct val="125000"/>
              </a:lnSpc>
              <a:buNone/>
            </a:pPr>
            <a:r>
              <a:rPr lang="en-US" sz="700" dirty="0">
                <a:solidFill>
                  <a:srgbClr val="EF9C82"/>
                </a:solidFill>
                <a:latin typeface="Quattrocento" pitchFamily="34" charset="0"/>
                <a:ea typeface="Quattrocento" pitchFamily="34" charset="-122"/>
                <a:cs typeface="Quattrocento" pitchFamily="34" charset="-120"/>
              </a:rPr>
              <a:t>FEATURES &amp; ADVANTAGES</a:t>
            </a:r>
            <a:endParaRPr lang="en-US" sz="700" dirty="0"/>
          </a:p>
        </p:txBody>
      </p:sp>
      <p:sp>
        <p:nvSpPr>
          <p:cNvPr id="4" name="Text 2"/>
          <p:cNvSpPr/>
          <p:nvPr/>
        </p:nvSpPr>
        <p:spPr>
          <a:xfrm>
            <a:off x="523577" y="610791"/>
            <a:ext cx="3701430" cy="336872"/>
          </a:xfrm>
          <a:prstGeom prst="rect">
            <a:avLst/>
          </a:prstGeom>
          <a:noFill/>
          <a:ln/>
        </p:spPr>
        <p:txBody>
          <a:bodyPr wrap="none" lIns="0" tIns="0" rIns="0" bIns="0" rtlCol="0" anchor="t"/>
          <a:lstStyle/>
          <a:p>
            <a:pPr algn="l" indent="0" marL="0">
              <a:lnSpc>
                <a:spcPct val="104000"/>
              </a:lnSpc>
              <a:buNone/>
            </a:pPr>
            <a:r>
              <a:rPr lang="en-US" sz="2100" dirty="0">
                <a:solidFill>
                  <a:srgbClr val="FFD9BE"/>
                </a:solidFill>
                <a:latin typeface="Quattrocento" pitchFamily="34" charset="0"/>
                <a:ea typeface="Quattrocento" pitchFamily="34" charset="-122"/>
                <a:cs typeface="Quattrocento" pitchFamily="34" charset="-120"/>
              </a:rPr>
              <a:t>Key Features &amp; Advantages</a:t>
            </a:r>
            <a:endParaRPr lang="en-US" sz="2100" dirty="0"/>
          </a:p>
        </p:txBody>
      </p:sp>
      <p:sp>
        <p:nvSpPr>
          <p:cNvPr id="5" name="Text 3"/>
          <p:cNvSpPr/>
          <p:nvPr/>
        </p:nvSpPr>
        <p:spPr>
          <a:xfrm>
            <a:off x="523577" y="1097979"/>
            <a:ext cx="8096845" cy="343495"/>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F9EEE7"/>
                </a:solidFill>
                <a:latin typeface="Quattrocento" pitchFamily="34" charset="0"/>
                <a:ea typeface="Quattrocento" pitchFamily="34" charset="-122"/>
                <a:cs typeface="Quattrocento" pitchFamily="34" charset="-120"/>
              </a:rPr>
              <a:t>The Support Ticket System delivers a comprehensive set of features designed to maximize usability, efficiency, and administrative control — resulting in measurable improvements over manual processes.</a:t>
            </a:r>
            <a:endParaRPr lang="en-US" sz="900" dirty="0"/>
          </a:p>
        </p:txBody>
      </p:sp>
      <p:sp>
        <p:nvSpPr>
          <p:cNvPr id="6" name="Shape 4"/>
          <p:cNvSpPr/>
          <p:nvPr/>
        </p:nvSpPr>
        <p:spPr>
          <a:xfrm>
            <a:off x="523577" y="1554212"/>
            <a:ext cx="3998342" cy="1244798"/>
          </a:xfrm>
          <a:prstGeom prst="roundRect">
            <a:avLst>
              <a:gd name="adj" fmla="val 1380"/>
            </a:avLst>
          </a:prstGeom>
          <a:solidFill>
            <a:srgbClr val="315251"/>
          </a:solidFill>
          <a:ln/>
        </p:spPr>
        <p:txBody>
          <a:bodyPr/>
          <a:p/>
        </p:txBody>
      </p:sp>
      <p:sp>
        <p:nvSpPr>
          <p:cNvPr id="7" name="Shape 5"/>
          <p:cNvSpPr/>
          <p:nvPr/>
        </p:nvSpPr>
        <p:spPr>
          <a:xfrm>
            <a:off x="638101" y="1668735"/>
            <a:ext cx="343570" cy="343570"/>
          </a:xfrm>
          <a:prstGeom prst="roundRect">
            <a:avLst>
              <a:gd name="adj" fmla="val 16632501"/>
            </a:avLst>
          </a:prstGeom>
          <a:solidFill>
            <a:srgbClr val="EF9C82"/>
          </a:solidFill>
          <a:ln/>
        </p:spPr>
        <p:txBody>
          <a:bodyPr/>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2532" y="1763167"/>
            <a:ext cx="154632" cy="154632"/>
          </a:xfrm>
          <a:prstGeom prst="rect">
            <a:avLst/>
          </a:prstGeom>
        </p:spPr>
      </p:pic>
      <p:sp>
        <p:nvSpPr>
          <p:cNvPr id="9" name="Text 6"/>
          <p:cNvSpPr/>
          <p:nvPr/>
        </p:nvSpPr>
        <p:spPr>
          <a:xfrm>
            <a:off x="638101" y="2112466"/>
            <a:ext cx="1347564" cy="168399"/>
          </a:xfrm>
          <a:prstGeom prst="rect">
            <a:avLst/>
          </a:prstGeom>
          <a:noFill/>
          <a:ln/>
        </p:spPr>
        <p:txBody>
          <a:bodyPr wrap="none" lIns="0" tIns="0" rIns="0" bIns="0" rtlCol="0" anchor="t"/>
          <a:lstStyle/>
          <a:p>
            <a:pPr algn="l" indent="0" marL="0">
              <a:lnSpc>
                <a:spcPct val="104000"/>
              </a:lnSpc>
              <a:buNone/>
            </a:pPr>
            <a:r>
              <a:rPr lang="en-US" sz="1050" dirty="0">
                <a:solidFill>
                  <a:srgbClr val="F9EEE7"/>
                </a:solidFill>
                <a:latin typeface="Quattrocento" pitchFamily="34" charset="0"/>
                <a:ea typeface="Quattrocento" pitchFamily="34" charset="-122"/>
                <a:cs typeface="Quattrocento" pitchFamily="34" charset="-120"/>
              </a:rPr>
              <a:t>Responsive Design</a:t>
            </a:r>
            <a:endParaRPr lang="en-US" sz="1050" dirty="0"/>
          </a:p>
        </p:txBody>
      </p:sp>
      <p:sp>
        <p:nvSpPr>
          <p:cNvPr id="10" name="Text 7"/>
          <p:cNvSpPr/>
          <p:nvPr/>
        </p:nvSpPr>
        <p:spPr>
          <a:xfrm>
            <a:off x="638101" y="2340992"/>
            <a:ext cx="3769296" cy="343495"/>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F9EEE7"/>
                </a:solidFill>
                <a:latin typeface="Quattrocento" pitchFamily="34" charset="0"/>
                <a:ea typeface="Quattrocento" pitchFamily="34" charset="-122"/>
                <a:cs typeface="Quattrocento" pitchFamily="34" charset="-120"/>
              </a:rPr>
              <a:t>Fully adaptive UI that works seamlessly across desktops, tablets, and mobile devices using Tailwind CSS breakpoints.</a:t>
            </a:r>
            <a:endParaRPr lang="en-US" sz="900" dirty="0"/>
          </a:p>
        </p:txBody>
      </p:sp>
      <p:sp>
        <p:nvSpPr>
          <p:cNvPr id="11" name="Shape 8"/>
          <p:cNvSpPr/>
          <p:nvPr/>
        </p:nvSpPr>
        <p:spPr>
          <a:xfrm>
            <a:off x="4622081" y="1554212"/>
            <a:ext cx="3998342" cy="1244798"/>
          </a:xfrm>
          <a:prstGeom prst="roundRect">
            <a:avLst>
              <a:gd name="adj" fmla="val 1380"/>
            </a:avLst>
          </a:prstGeom>
          <a:solidFill>
            <a:srgbClr val="315251"/>
          </a:solidFill>
          <a:ln/>
        </p:spPr>
        <p:txBody>
          <a:bodyPr/>
          <a:p/>
        </p:txBody>
      </p:sp>
      <p:sp>
        <p:nvSpPr>
          <p:cNvPr id="12" name="Shape 9"/>
          <p:cNvSpPr/>
          <p:nvPr/>
        </p:nvSpPr>
        <p:spPr>
          <a:xfrm>
            <a:off x="4736604" y="1668735"/>
            <a:ext cx="343570" cy="343570"/>
          </a:xfrm>
          <a:prstGeom prst="roundRect">
            <a:avLst>
              <a:gd name="adj" fmla="val 16632501"/>
            </a:avLst>
          </a:prstGeom>
          <a:solidFill>
            <a:srgbClr val="EF9C82"/>
          </a:solidFill>
          <a:ln/>
        </p:spPr>
        <p:txBody>
          <a:bodyPr/>
          <a:p/>
        </p:txBody>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31035" y="1763167"/>
            <a:ext cx="154632" cy="154632"/>
          </a:xfrm>
          <a:prstGeom prst="rect">
            <a:avLst/>
          </a:prstGeom>
        </p:spPr>
      </p:pic>
      <p:sp>
        <p:nvSpPr>
          <p:cNvPr id="14" name="Text 10"/>
          <p:cNvSpPr/>
          <p:nvPr/>
        </p:nvSpPr>
        <p:spPr>
          <a:xfrm>
            <a:off x="4736604" y="2112466"/>
            <a:ext cx="1347564" cy="168399"/>
          </a:xfrm>
          <a:prstGeom prst="rect">
            <a:avLst/>
          </a:prstGeom>
          <a:noFill/>
          <a:ln/>
        </p:spPr>
        <p:txBody>
          <a:bodyPr wrap="none" lIns="0" tIns="0" rIns="0" bIns="0" rtlCol="0" anchor="t"/>
          <a:lstStyle/>
          <a:p>
            <a:pPr algn="l" indent="0" marL="0">
              <a:lnSpc>
                <a:spcPct val="104000"/>
              </a:lnSpc>
              <a:buNone/>
            </a:pPr>
            <a:r>
              <a:rPr lang="en-US" sz="1050" dirty="0">
                <a:solidFill>
                  <a:srgbClr val="F9EEE7"/>
                </a:solidFill>
                <a:latin typeface="Quattrocento" pitchFamily="34" charset="0"/>
                <a:ea typeface="Quattrocento" pitchFamily="34" charset="-122"/>
                <a:cs typeface="Quattrocento" pitchFamily="34" charset="-120"/>
              </a:rPr>
              <a:t>Search &amp; Filter</a:t>
            </a:r>
            <a:endParaRPr lang="en-US" sz="1050" dirty="0"/>
          </a:p>
        </p:txBody>
      </p:sp>
      <p:sp>
        <p:nvSpPr>
          <p:cNvPr id="15" name="Text 11"/>
          <p:cNvSpPr/>
          <p:nvPr/>
        </p:nvSpPr>
        <p:spPr>
          <a:xfrm>
            <a:off x="4736604" y="2340992"/>
            <a:ext cx="3769296" cy="343495"/>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F9EEE7"/>
                </a:solidFill>
                <a:latin typeface="Quattrocento" pitchFamily="34" charset="0"/>
                <a:ea typeface="Quattrocento" pitchFamily="34" charset="-122"/>
                <a:cs typeface="Quattrocento" pitchFamily="34" charset="-120"/>
              </a:rPr>
              <a:t>Users and admins can quickly locate tickets using keyword search, priority filters, and status-based sorting.</a:t>
            </a:r>
            <a:endParaRPr lang="en-US" sz="900" dirty="0"/>
          </a:p>
        </p:txBody>
      </p:sp>
      <p:sp>
        <p:nvSpPr>
          <p:cNvPr id="16" name="Shape 12"/>
          <p:cNvSpPr/>
          <p:nvPr/>
        </p:nvSpPr>
        <p:spPr>
          <a:xfrm>
            <a:off x="523577" y="2899172"/>
            <a:ext cx="3998342" cy="1244798"/>
          </a:xfrm>
          <a:prstGeom prst="roundRect">
            <a:avLst>
              <a:gd name="adj" fmla="val 1380"/>
            </a:avLst>
          </a:prstGeom>
          <a:solidFill>
            <a:srgbClr val="315251"/>
          </a:solidFill>
          <a:ln/>
        </p:spPr>
        <p:txBody>
          <a:bodyPr/>
          <a:p/>
        </p:txBody>
      </p:sp>
      <p:sp>
        <p:nvSpPr>
          <p:cNvPr id="17" name="Shape 13"/>
          <p:cNvSpPr/>
          <p:nvPr/>
        </p:nvSpPr>
        <p:spPr>
          <a:xfrm>
            <a:off x="638101" y="3013695"/>
            <a:ext cx="343570" cy="343570"/>
          </a:xfrm>
          <a:prstGeom prst="roundRect">
            <a:avLst>
              <a:gd name="adj" fmla="val 16632501"/>
            </a:avLst>
          </a:prstGeom>
          <a:solidFill>
            <a:srgbClr val="EF9C82"/>
          </a:solidFill>
          <a:ln/>
        </p:spPr>
        <p:txBody>
          <a:bodyPr/>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2532" y="3108127"/>
            <a:ext cx="154632" cy="154632"/>
          </a:xfrm>
          <a:prstGeom prst="rect">
            <a:avLst/>
          </a:prstGeom>
        </p:spPr>
      </p:pic>
      <p:sp>
        <p:nvSpPr>
          <p:cNvPr id="19" name="Text 14"/>
          <p:cNvSpPr/>
          <p:nvPr/>
        </p:nvSpPr>
        <p:spPr>
          <a:xfrm>
            <a:off x="638101" y="3457426"/>
            <a:ext cx="1347564" cy="168399"/>
          </a:xfrm>
          <a:prstGeom prst="rect">
            <a:avLst/>
          </a:prstGeom>
          <a:noFill/>
          <a:ln/>
        </p:spPr>
        <p:txBody>
          <a:bodyPr wrap="none" lIns="0" tIns="0" rIns="0" bIns="0" rtlCol="0" anchor="t"/>
          <a:lstStyle/>
          <a:p>
            <a:pPr algn="l" indent="0" marL="0">
              <a:lnSpc>
                <a:spcPct val="104000"/>
              </a:lnSpc>
              <a:buNone/>
            </a:pPr>
            <a:r>
              <a:rPr lang="en-US" sz="1050" dirty="0">
                <a:solidFill>
                  <a:srgbClr val="F9EEE7"/>
                </a:solidFill>
                <a:latin typeface="Quattrocento" pitchFamily="34" charset="0"/>
                <a:ea typeface="Quattrocento" pitchFamily="34" charset="-122"/>
                <a:cs typeface="Quattrocento" pitchFamily="34" charset="-120"/>
              </a:rPr>
              <a:t>Dashboard Statistics</a:t>
            </a:r>
            <a:endParaRPr lang="en-US" sz="1050" dirty="0"/>
          </a:p>
        </p:txBody>
      </p:sp>
      <p:sp>
        <p:nvSpPr>
          <p:cNvPr id="20" name="Text 15"/>
          <p:cNvSpPr/>
          <p:nvPr/>
        </p:nvSpPr>
        <p:spPr>
          <a:xfrm>
            <a:off x="638101" y="3685952"/>
            <a:ext cx="3769296" cy="343495"/>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F9EEE7"/>
                </a:solidFill>
                <a:latin typeface="Quattrocento" pitchFamily="34" charset="0"/>
                <a:ea typeface="Quattrocento" pitchFamily="34" charset="-122"/>
                <a:cs typeface="Quattrocento" pitchFamily="34" charset="-120"/>
              </a:rPr>
              <a:t>Admin dashboard displays real-time metrics — total tickets, resolved count, pending issues, and priority distribution.</a:t>
            </a:r>
            <a:endParaRPr lang="en-US" sz="900" dirty="0"/>
          </a:p>
        </p:txBody>
      </p:sp>
      <p:sp>
        <p:nvSpPr>
          <p:cNvPr id="21" name="Shape 16"/>
          <p:cNvSpPr/>
          <p:nvPr/>
        </p:nvSpPr>
        <p:spPr>
          <a:xfrm>
            <a:off x="4622081" y="2899172"/>
            <a:ext cx="3998342" cy="1244798"/>
          </a:xfrm>
          <a:prstGeom prst="roundRect">
            <a:avLst>
              <a:gd name="adj" fmla="val 1380"/>
            </a:avLst>
          </a:prstGeom>
          <a:solidFill>
            <a:srgbClr val="315251"/>
          </a:solidFill>
          <a:ln/>
        </p:spPr>
        <p:txBody>
          <a:bodyPr/>
          <a:p/>
        </p:txBody>
      </p:sp>
      <p:sp>
        <p:nvSpPr>
          <p:cNvPr id="22" name="Shape 17"/>
          <p:cNvSpPr/>
          <p:nvPr/>
        </p:nvSpPr>
        <p:spPr>
          <a:xfrm>
            <a:off x="4736604" y="3013695"/>
            <a:ext cx="343570" cy="343570"/>
          </a:xfrm>
          <a:prstGeom prst="roundRect">
            <a:avLst>
              <a:gd name="adj" fmla="val 16632501"/>
            </a:avLst>
          </a:prstGeom>
          <a:solidFill>
            <a:srgbClr val="EF9C82"/>
          </a:solidFill>
          <a:ln/>
        </p:spPr>
        <p:txBody>
          <a:bodyPr/>
          <a:p/>
        </p:txBody>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31035" y="3108127"/>
            <a:ext cx="154632" cy="154632"/>
          </a:xfrm>
          <a:prstGeom prst="rect">
            <a:avLst/>
          </a:prstGeom>
        </p:spPr>
      </p:pic>
      <p:sp>
        <p:nvSpPr>
          <p:cNvPr id="24" name="Text 18"/>
          <p:cNvSpPr/>
          <p:nvPr/>
        </p:nvSpPr>
        <p:spPr>
          <a:xfrm>
            <a:off x="4736604" y="3457426"/>
            <a:ext cx="1809750" cy="168399"/>
          </a:xfrm>
          <a:prstGeom prst="rect">
            <a:avLst/>
          </a:prstGeom>
          <a:noFill/>
          <a:ln/>
        </p:spPr>
        <p:txBody>
          <a:bodyPr wrap="none" lIns="0" tIns="0" rIns="0" bIns="0" rtlCol="0" anchor="t"/>
          <a:lstStyle/>
          <a:p>
            <a:pPr algn="l" indent="0" marL="0">
              <a:lnSpc>
                <a:spcPct val="104000"/>
              </a:lnSpc>
              <a:buNone/>
            </a:pPr>
            <a:r>
              <a:rPr lang="en-US" sz="1050" dirty="0">
                <a:solidFill>
                  <a:srgbClr val="F9EEE7"/>
                </a:solidFill>
                <a:latin typeface="Quattrocento" pitchFamily="34" charset="0"/>
                <a:ea typeface="Quattrocento" pitchFamily="34" charset="-122"/>
                <a:cs typeface="Quattrocento" pitchFamily="34" charset="-120"/>
              </a:rPr>
              <a:t>Priority &amp; Status Management</a:t>
            </a:r>
            <a:endParaRPr lang="en-US" sz="1050" dirty="0"/>
          </a:p>
        </p:txBody>
      </p:sp>
      <p:sp>
        <p:nvSpPr>
          <p:cNvPr id="25" name="Text 19"/>
          <p:cNvSpPr/>
          <p:nvPr/>
        </p:nvSpPr>
        <p:spPr>
          <a:xfrm>
            <a:off x="4736604" y="3685952"/>
            <a:ext cx="3769296" cy="343495"/>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F9EEE7"/>
                </a:solidFill>
                <a:latin typeface="Quattrocento" pitchFamily="34" charset="0"/>
                <a:ea typeface="Quattrocento" pitchFamily="34" charset="-122"/>
                <a:cs typeface="Quattrocento" pitchFamily="34" charset="-120"/>
              </a:rPr>
              <a:t>Tickets are classified by priority (Low/Medium/High) and tracked through a clear status lifecycle for better triage.</a:t>
            </a:r>
            <a:endParaRPr lang="en-US" sz="900" dirty="0"/>
          </a:p>
        </p:txBody>
      </p:sp>
      <p:sp>
        <p:nvSpPr>
          <p:cNvPr id="26" name="Shape 20"/>
          <p:cNvSpPr/>
          <p:nvPr/>
        </p:nvSpPr>
        <p:spPr>
          <a:xfrm>
            <a:off x="523577" y="4256708"/>
            <a:ext cx="8096845" cy="409277"/>
          </a:xfrm>
          <a:prstGeom prst="roundRect">
            <a:avLst>
              <a:gd name="adj" fmla="val 4198"/>
            </a:avLst>
          </a:prstGeom>
          <a:solidFill>
            <a:srgbClr val="183A13"/>
          </a:solidFill>
          <a:ln/>
        </p:spPr>
        <p:txBody>
          <a:bodyPr/>
          <a:p/>
        </p:txBody>
      </p:sp>
      <p:pic>
        <p:nvPicPr>
          <p:cNvPr id="27" name="Image 4" descr="preencoded.png">    </p:cNvPr>
          <p:cNvPicPr>
            <a:picLocks noChangeAspect="1"/>
          </p:cNvPicPr>
          <p:nvPr/>
        </p:nvPicPr>
        <p:blipFill>
          <a:blip r:embed="rId9"/>
          <a:stretch>
            <a:fillRect/>
          </a:stretch>
        </p:blipFill>
        <p:spPr>
          <a:xfrm>
            <a:off x="638101" y="4413870"/>
            <a:ext cx="143173" cy="114523"/>
          </a:xfrm>
          <a:prstGeom prst="rect">
            <a:avLst/>
          </a:prstGeom>
        </p:spPr>
      </p:pic>
      <p:sp>
        <p:nvSpPr>
          <p:cNvPr id="28" name="Text 21"/>
          <p:cNvSpPr/>
          <p:nvPr/>
        </p:nvSpPr>
        <p:spPr>
          <a:xfrm>
            <a:off x="895796" y="4375472"/>
            <a:ext cx="8067303" cy="171748"/>
          </a:xfrm>
          <a:prstGeom prst="rect">
            <a:avLst/>
          </a:prstGeom>
          <a:noFill/>
          <a:ln/>
        </p:spPr>
        <p:txBody>
          <a:bodyPr wrap="none" lIns="0" tIns="0" rIns="0" bIns="0" rtlCol="0" anchor="t"/>
          <a:lstStyle/>
          <a:p>
            <a:pPr algn="l" indent="0" marL="0">
              <a:lnSpc>
                <a:spcPct val="125000"/>
              </a:lnSpc>
              <a:buNone/>
            </a:pPr>
            <a:r>
              <a:rPr lang="en-US" sz="900" b="1" dirty="0">
                <a:solidFill>
                  <a:srgbClr val="FFFFFF"/>
                </a:solidFill>
                <a:latin typeface="Quattrocento Bold" pitchFamily="34" charset="0"/>
                <a:ea typeface="Quattrocento Bold" pitchFamily="34" charset="-122"/>
                <a:cs typeface="Quattrocento Bold" pitchFamily="34" charset="-120"/>
              </a:rPr>
              <a:t>Key Advantages:</a:t>
            </a:r>
            <a:pPr algn="l" indent="0" marL="0">
              <a:lnSpc>
                <a:spcPct val="125000"/>
              </a:lnSpc>
              <a:buNone/>
            </a:pPr>
            <a:r>
              <a:rPr lang="en-US" sz="900" dirty="0">
                <a:solidFill>
                  <a:srgbClr val="FFFFFF"/>
                </a:solidFill>
                <a:latin typeface="Quattrocento" pitchFamily="34" charset="0"/>
                <a:ea typeface="Quattrocento" pitchFamily="34" charset="-122"/>
                <a:cs typeface="Quattrocento" pitchFamily="34" charset="-120"/>
              </a:rPr>
              <a:t> Easy issue tracking · Faster support resolution · Improved team productivity · Centralized, auditable ticket management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23577" y="389334"/>
            <a:ext cx="1697534" cy="245938"/>
          </a:xfrm>
          <a:prstGeom prst="roundRect">
            <a:avLst>
              <a:gd name="adj" fmla="val 6388"/>
            </a:avLst>
          </a:prstGeom>
          <a:noFill/>
          <a:ln/>
          <a:effectLst>
            <a:outerShdw sx="100000" sy="100000" kx="0" ky="0" algn="bl" rotWithShape="0" blurRad="101600" dist="50800" dir="16200000">
              <a:srgbClr val="ef9c82">
                <a:alpha val="100000"/>
              </a:srgbClr>
            </a:outerShdw>
          </a:effectLst>
        </p:spPr>
        <p:txBody>
          <a:bodyPr/>
          <a:p/>
        </p:txBody>
      </p:sp>
      <p:sp>
        <p:nvSpPr>
          <p:cNvPr id="3" name="Text 1"/>
          <p:cNvSpPr/>
          <p:nvPr/>
        </p:nvSpPr>
        <p:spPr>
          <a:xfrm>
            <a:off x="602084" y="428551"/>
            <a:ext cx="1997720" cy="167506"/>
          </a:xfrm>
          <a:prstGeom prst="rect">
            <a:avLst/>
          </a:prstGeom>
          <a:noFill/>
          <a:ln/>
        </p:spPr>
        <p:txBody>
          <a:bodyPr wrap="none" lIns="0" tIns="0" rIns="0" bIns="0" rtlCol="0" anchor="t"/>
          <a:lstStyle/>
          <a:p>
            <a:pPr algn="l" indent="0" marL="0">
              <a:lnSpc>
                <a:spcPct val="133000"/>
              </a:lnSpc>
              <a:buNone/>
            </a:pPr>
            <a:r>
              <a:rPr lang="en-US" sz="800" dirty="0">
                <a:solidFill>
                  <a:srgbClr val="EF9C82"/>
                </a:solidFill>
                <a:latin typeface="Quattrocento" pitchFamily="34" charset="0"/>
                <a:ea typeface="Quattrocento" pitchFamily="34" charset="-122"/>
                <a:cs typeface="Quattrocento" pitchFamily="34" charset="-120"/>
              </a:rPr>
              <a:t>FUTURE SCOPE &amp; CONCLUSION</a:t>
            </a:r>
            <a:endParaRPr lang="en-US" sz="800" dirty="0"/>
          </a:p>
        </p:txBody>
      </p:sp>
      <p:sp>
        <p:nvSpPr>
          <p:cNvPr id="4" name="Text 2"/>
          <p:cNvSpPr/>
          <p:nvPr/>
        </p:nvSpPr>
        <p:spPr>
          <a:xfrm>
            <a:off x="523577" y="687586"/>
            <a:ext cx="5477321" cy="384944"/>
          </a:xfrm>
          <a:prstGeom prst="rect">
            <a:avLst/>
          </a:prstGeom>
          <a:noFill/>
          <a:ln/>
        </p:spPr>
        <p:txBody>
          <a:bodyPr wrap="none" lIns="0" tIns="0" rIns="0" bIns="0" rtlCol="0" anchor="t"/>
          <a:lstStyle/>
          <a:p>
            <a:pPr algn="l" indent="0" marL="0">
              <a:lnSpc>
                <a:spcPct val="104000"/>
              </a:lnSpc>
              <a:buNone/>
            </a:pPr>
            <a:r>
              <a:rPr lang="en-US" sz="2400" dirty="0">
                <a:solidFill>
                  <a:srgbClr val="FFD9BE"/>
                </a:solidFill>
                <a:latin typeface="Quattrocento" pitchFamily="34" charset="0"/>
                <a:ea typeface="Quattrocento" pitchFamily="34" charset="-122"/>
                <a:cs typeface="Quattrocento" pitchFamily="34" charset="-120"/>
              </a:rPr>
              <a:t>Future Enhancements &amp; Conclusion</a:t>
            </a:r>
            <a:endParaRPr lang="en-US" sz="2400" dirty="0"/>
          </a:p>
        </p:txBody>
      </p:sp>
      <p:sp>
        <p:nvSpPr>
          <p:cNvPr id="5" name="Shape 3"/>
          <p:cNvSpPr/>
          <p:nvPr/>
        </p:nvSpPr>
        <p:spPr>
          <a:xfrm>
            <a:off x="429295" y="1268834"/>
            <a:ext cx="4077295" cy="3485257"/>
          </a:xfrm>
          <a:prstGeom prst="roundRect">
            <a:avLst>
              <a:gd name="adj" fmla="val 563"/>
            </a:avLst>
          </a:prstGeom>
          <a:solidFill>
            <a:srgbClr val="1D4241"/>
          </a:solidFill>
          <a:ln/>
        </p:spPr>
        <p:txBody>
          <a:bodyPr/>
          <a:p/>
        </p:txBody>
      </p:sp>
      <p:sp>
        <p:nvSpPr>
          <p:cNvPr id="6" name="Text 4"/>
          <p:cNvSpPr/>
          <p:nvPr/>
        </p:nvSpPr>
        <p:spPr>
          <a:xfrm>
            <a:off x="560189" y="1399729"/>
            <a:ext cx="2092300" cy="192509"/>
          </a:xfrm>
          <a:prstGeom prst="rect">
            <a:avLst/>
          </a:prstGeom>
          <a:noFill/>
          <a:ln/>
        </p:spPr>
        <p:txBody>
          <a:bodyPr wrap="none" lIns="0" tIns="0" rIns="0" bIns="0" rtlCol="0" anchor="t"/>
          <a:lstStyle/>
          <a:p>
            <a:pPr algn="l" indent="0" marL="0">
              <a:lnSpc>
                <a:spcPct val="104000"/>
              </a:lnSpc>
              <a:buNone/>
            </a:pPr>
            <a:r>
              <a:rPr lang="en-US" sz="1200" dirty="0">
                <a:solidFill>
                  <a:srgbClr val="FFD9BE"/>
                </a:solidFill>
                <a:latin typeface="Quattrocento" pitchFamily="34" charset="0"/>
                <a:ea typeface="Quattrocento" pitchFamily="34" charset="-122"/>
                <a:cs typeface="Quattrocento" pitchFamily="34" charset="-120"/>
              </a:rPr>
              <a:t>Planned Enhancements</a:t>
            </a:r>
            <a:endParaRPr lang="en-US" sz="1200" dirty="0"/>
          </a:p>
        </p:txBody>
      </p:sp>
      <p:sp>
        <p:nvSpPr>
          <p:cNvPr id="7" name="Text 5"/>
          <p:cNvSpPr/>
          <p:nvPr/>
        </p:nvSpPr>
        <p:spPr>
          <a:xfrm>
            <a:off x="560189" y="1723132"/>
            <a:ext cx="3815507" cy="2067669"/>
          </a:xfrm>
          <a:prstGeom prst="rect">
            <a:avLst/>
          </a:prstGeom>
          <a:noFill/>
          <a:ln/>
        </p:spPr>
        <p:txBody>
          <a:bodyPr wrap="square" lIns="0" tIns="0" rIns="0" bIns="0" rtlCol="0" anchor="t">
            <a:normAutofit/>
          </a:bodyPr>
          <a:lstStyle/>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Email Notifications</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Automated alerts for ticket updates and resolutions</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File Attachments</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Allow users to upload screenshots or documents</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AI Chatbot Support</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Intelligent auto-responses for common queries</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Ticket Assignment</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Route tickets to specific support agents</a:t>
            </a:r>
            <a:endParaRPr lang="en-US" sz="1000" dirty="0"/>
          </a:p>
          <a:p>
            <a:pPr algn="l" marL="203200" indent="-203200">
              <a:lnSpc>
                <a:spcPct val="133000"/>
              </a:lnSpc>
              <a:buSzPct val="100000"/>
              <a:buChar char="•"/>
            </a:pPr>
            <a:r>
              <a:rPr lang="en-US" sz="1000" b="1" dirty="0">
                <a:solidFill>
                  <a:srgbClr val="F9EEE7"/>
                </a:solidFill>
                <a:latin typeface="Quattrocento Bold" pitchFamily="34" charset="0"/>
                <a:ea typeface="Quattrocento Bold" pitchFamily="34" charset="-122"/>
                <a:cs typeface="Quattrocento Bold" pitchFamily="34" charset="-120"/>
              </a:rPr>
              <a:t>Analytics Dashboard</a:t>
            </a:r>
            <a:pPr algn="l" marL="203200" indent="-203200">
              <a:lnSpc>
                <a:spcPct val="133000"/>
              </a:lnSpc>
              <a:buSzPct val="100000"/>
              <a:buChar char="•"/>
            </a:pPr>
            <a:r>
              <a:rPr lang="en-US" sz="1000" dirty="0">
                <a:solidFill>
                  <a:srgbClr val="F9EEE7"/>
                </a:solidFill>
                <a:latin typeface="Quattrocento" pitchFamily="34" charset="0"/>
                <a:ea typeface="Quattrocento" pitchFamily="34" charset="-122"/>
                <a:cs typeface="Quattrocento" pitchFamily="34" charset="-120"/>
              </a:rPr>
              <a:t> — Advanced reporting and trend visualization</a:t>
            </a:r>
            <a:endParaRPr lang="en-US" sz="1000" dirty="0"/>
          </a:p>
        </p:txBody>
      </p:sp>
      <p:sp>
        <p:nvSpPr>
          <p:cNvPr id="8" name="Text 6"/>
          <p:cNvSpPr/>
          <p:nvPr/>
        </p:nvSpPr>
        <p:spPr>
          <a:xfrm>
            <a:off x="4736455" y="1399729"/>
            <a:ext cx="1997273" cy="192509"/>
          </a:xfrm>
          <a:prstGeom prst="rect">
            <a:avLst/>
          </a:prstGeom>
          <a:noFill/>
          <a:ln/>
        </p:spPr>
        <p:txBody>
          <a:bodyPr wrap="none" lIns="0" tIns="0" rIns="0" bIns="0" rtlCol="0" anchor="t"/>
          <a:lstStyle/>
          <a:p>
            <a:pPr algn="l" indent="0" marL="0">
              <a:lnSpc>
                <a:spcPct val="104000"/>
              </a:lnSpc>
              <a:buNone/>
            </a:pPr>
            <a:r>
              <a:rPr lang="en-US" sz="1200" dirty="0">
                <a:solidFill>
                  <a:srgbClr val="FFD9BE"/>
                </a:solidFill>
                <a:latin typeface="Quattrocento" pitchFamily="34" charset="0"/>
                <a:ea typeface="Quattrocento" pitchFamily="34" charset="-122"/>
                <a:cs typeface="Quattrocento" pitchFamily="34" charset="-120"/>
              </a:rPr>
              <a:t>Conclusion</a:t>
            </a:r>
            <a:endParaRPr lang="en-US" sz="1200" dirty="0"/>
          </a:p>
        </p:txBody>
      </p:sp>
      <p:sp>
        <p:nvSpPr>
          <p:cNvPr id="9" name="Text 7"/>
          <p:cNvSpPr/>
          <p:nvPr/>
        </p:nvSpPr>
        <p:spPr>
          <a:xfrm>
            <a:off x="4736455" y="1723132"/>
            <a:ext cx="3888730" cy="2002408"/>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This project successfully demonstrates the development of a fully functional </a:t>
            </a:r>
            <a:pPr algn="l" indent="0" marL="0">
              <a:lnSpc>
                <a:spcPct val="133000"/>
              </a:lnSpc>
              <a:buNone/>
            </a:pPr>
            <a:r>
              <a:rPr lang="en-US" sz="1000" b="1" dirty="0">
                <a:solidFill>
                  <a:srgbClr val="F9EEE7"/>
                </a:solidFill>
                <a:latin typeface="Quattrocento Bold" pitchFamily="34" charset="0"/>
                <a:ea typeface="Quattrocento Bold" pitchFamily="34" charset="-122"/>
                <a:cs typeface="Quattrocento Bold" pitchFamily="34" charset="-120"/>
              </a:rPr>
              <a:t>Support Ticket System</a:t>
            </a:r>
            <a:pPr algn="l" indent="0" marL="0">
              <a:lnSpc>
                <a:spcPct val="133000"/>
              </a:lnSpc>
              <a:spcAft>
                <a:spcPts val="900"/>
              </a:spcAft>
              <a:buNone/>
            </a:pPr>
            <a:r>
              <a:rPr lang="en-US" sz="1000" dirty="0">
                <a:solidFill>
                  <a:srgbClr val="F9EEE7"/>
                </a:solidFill>
                <a:latin typeface="Quattrocento" pitchFamily="34" charset="0"/>
                <a:ea typeface="Quattrocento" pitchFamily="34" charset="-122"/>
                <a:cs typeface="Quattrocento" pitchFamily="34" charset="-120"/>
              </a:rPr>
              <a:t> using modern web technologies — Next.js, React, Node.js, Express, and MongoDB Atlas.</a:t>
            </a:r>
            <a:endParaRPr lang="en-US" sz="1000" dirty="0"/>
          </a:p>
          <a:p>
            <a:pPr algn="l" indent="0" marL="0">
              <a:lnSpc>
                <a:spcPct val="133000"/>
              </a:lnSpc>
              <a:buNone/>
            </a:pPr>
            <a:r>
              <a:rPr lang="en-US" sz="1000" dirty="0">
                <a:solidFill>
                  <a:srgbClr val="F9EEE7"/>
                </a:solidFill>
                <a:latin typeface="Quattrocento" pitchFamily="34" charset="0"/>
                <a:ea typeface="Quattrocento" pitchFamily="34" charset="-122"/>
                <a:cs typeface="Quattrocento" pitchFamily="34" charset="-120"/>
              </a:rPr>
              <a:t>The system effectively addresses the core challenges of manual support handling by providing a centralized, trackable, and efficient platform for issue management. It showcases practical application of full-stack development principles within the AI &amp; DS curriculum.</a:t>
            </a:r>
            <a:endParaRPr lang="en-US" sz="1000" dirty="0"/>
          </a:p>
        </p:txBody>
      </p:sp>
      <p:sp>
        <p:nvSpPr>
          <p:cNvPr id="10" name="Shape 8"/>
          <p:cNvSpPr/>
          <p:nvPr/>
        </p:nvSpPr>
        <p:spPr>
          <a:xfrm>
            <a:off x="4736455" y="3905473"/>
            <a:ext cx="3888730" cy="14288"/>
          </a:xfrm>
          <a:prstGeom prst="roundRect">
            <a:avLst>
              <a:gd name="adj" fmla="val 59998"/>
            </a:avLst>
          </a:prstGeom>
          <a:solidFill>
            <a:srgbClr val="F9EEE7">
              <a:alpha val="50000"/>
            </a:srgbClr>
          </a:solidFill>
          <a:ln/>
        </p:spPr>
        <p:txBody>
          <a:bodyPr/>
          <a:p/>
        </p:txBody>
      </p:sp>
      <p:sp>
        <p:nvSpPr>
          <p:cNvPr id="11" name="Text 9"/>
          <p:cNvSpPr/>
          <p:nvPr/>
        </p:nvSpPr>
        <p:spPr>
          <a:xfrm>
            <a:off x="4736455" y="4099694"/>
            <a:ext cx="3888730" cy="536600"/>
          </a:xfrm>
          <a:prstGeom prst="rect">
            <a:avLst/>
          </a:prstGeom>
          <a:noFill/>
          <a:ln/>
        </p:spPr>
        <p:txBody>
          <a:bodyPr wrap="square" lIns="0" tIns="0" rIns="0" bIns="0" rtlCol="0" anchor="t"/>
          <a:lstStyle/>
          <a:p>
            <a:pPr algn="l" indent="0" marL="0">
              <a:lnSpc>
                <a:spcPct val="133000"/>
              </a:lnSpc>
              <a:buNone/>
            </a:pPr>
            <a:r>
              <a:rPr lang="en-US" sz="1000" b="1" dirty="0">
                <a:solidFill>
                  <a:srgbClr val="F9EEE7"/>
                </a:solidFill>
                <a:latin typeface="Quattrocento Bold" pitchFamily="34" charset="0"/>
                <a:ea typeface="Quattrocento Bold" pitchFamily="34" charset="-122"/>
                <a:cs typeface="Quattrocento Bold" pitchFamily="34" charset="-120"/>
              </a:rPr>
              <a:t>K. Bhavana</a:t>
            </a:r>
            <a:pPr algn="l" indent="0" marL="0">
              <a:lnSpc>
                <a:spcPct val="133000"/>
              </a:lnSpc>
              <a:spcAft>
                <a:spcPts val="900"/>
              </a:spcAft>
              <a:buNone/>
            </a:pPr>
            <a:r>
              <a:rPr lang="en-US" sz="1000" dirty="0">
                <a:solidFill>
                  <a:srgbClr val="F9EEE7"/>
                </a:solidFill>
                <a:latin typeface="Quattrocento" pitchFamily="34" charset="0"/>
                <a:ea typeface="Quattrocento" pitchFamily="34" charset="-122"/>
                <a:cs typeface="Quattrocento" pitchFamily="34" charset="-120"/>
              </a:rPr>
              <a:t> · AI &amp; DS Department · AITS, Tirupati</a:t>
            </a:r>
            <a:endParaRPr lang="en-US" sz="1000" dirty="0"/>
          </a:p>
          <a:p>
            <a:pPr algn="l" indent="0" marL="0">
              <a:lnSpc>
                <a:spcPct val="133000"/>
              </a:lnSpc>
              <a:buNone/>
            </a:pPr>
            <a:r>
              <a:rPr lang="en-US" sz="1000" i="1" dirty="0">
                <a:solidFill>
                  <a:srgbClr val="F9EEE7"/>
                </a:solidFill>
                <a:latin typeface="Quattrocento" pitchFamily="34" charset="0"/>
                <a:ea typeface="Quattrocento" pitchFamily="34" charset="-122"/>
                <a:cs typeface="Quattrocento" pitchFamily="34" charset="-120"/>
              </a:rPr>
              <a:t>Thank you — Questions &amp; Answers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2026-06-23T07:26:43Z</dcterms:created>
  <dcterms:modified xsi:type="dcterms:W3CDTF">2026-06-23T07:26:43Z</dcterms:modified>
</cp:coreProperties>
</file>